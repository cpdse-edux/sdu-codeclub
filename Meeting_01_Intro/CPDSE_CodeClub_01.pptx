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  <p:sldMasterId id="2147483679" r:id="rId5"/>
    <p:sldMasterId id="2147483661" r:id="rId6"/>
  </p:sldMasterIdLst>
  <p:notesMasterIdLst>
    <p:notesMasterId r:id="rId21"/>
  </p:notesMasterIdLst>
  <p:handoutMasterIdLst>
    <p:handoutMasterId r:id="rId22"/>
  </p:handoutMasterIdLst>
  <p:sldIdLst>
    <p:sldId id="258" r:id="rId7"/>
    <p:sldId id="271" r:id="rId8"/>
    <p:sldId id="272" r:id="rId9"/>
    <p:sldId id="282" r:id="rId10"/>
    <p:sldId id="283" r:id="rId11"/>
    <p:sldId id="284" r:id="rId12"/>
    <p:sldId id="285" r:id="rId13"/>
    <p:sldId id="286" r:id="rId14"/>
    <p:sldId id="288" r:id="rId15"/>
    <p:sldId id="289" r:id="rId16"/>
    <p:sldId id="287" r:id="rId17"/>
    <p:sldId id="296" r:id="rId18"/>
    <p:sldId id="291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llo" id="{57C02E79-6BF8-4BD9-9DB2-B2D4C01D7C2A}">
          <p14:sldIdLst>
            <p14:sldId id="258"/>
            <p14:sldId id="271"/>
            <p14:sldId id="272"/>
          </p14:sldIdLst>
        </p14:section>
        <p14:section name="Intro &amp; Motivation: Data Science" id="{41C32AB3-CF66-49C8-830A-6AEAD8DD6E54}">
          <p14:sldIdLst>
            <p14:sldId id="282"/>
            <p14:sldId id="283"/>
            <p14:sldId id="284"/>
            <p14:sldId id="285"/>
          </p14:sldIdLst>
        </p14:section>
        <p14:section name="Variables &amp; Functions" id="{28C465A8-7114-4C40-A5F8-C26C16C2DA8B}">
          <p14:sldIdLst>
            <p14:sldId id="286"/>
            <p14:sldId id="288"/>
            <p14:sldId id="289"/>
            <p14:sldId id="287"/>
          </p14:sldIdLst>
        </p14:section>
        <p14:section name="Inspecting Errors" id="{D1E415E4-A113-4FF0-9366-0A12C7FCD8CD}">
          <p14:sldIdLst>
            <p14:sldId id="296"/>
            <p14:sldId id="291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FB2499-F7D1-6ADA-6D20-9CD9D2545309}" name="Sebastian Jakobsen" initials="SJ" userId="S::seja@sdu.dk::5b2ac7fb-a084-4b72-bf40-b83b05c9d5cb" providerId="AD"/>
  <p188:author id="{F29E65A4-E8FA-FC91-5E90-14CC9CD22A83}" name="Morten Lindow" initials="ML" userId="S::glv559@ku.dk::7624a2d6-5842-400f-b2ce-705bfd5656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F9F9F9"/>
    <a:srgbClr val="FFFFFF"/>
    <a:srgbClr val="D6C17C"/>
    <a:srgbClr val="5F7D61"/>
    <a:srgbClr val="3C5E3E"/>
    <a:srgbClr val="F6F1DC"/>
    <a:srgbClr val="E4D7A1"/>
    <a:srgbClr val="A9BBAA"/>
    <a:srgbClr val="A98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88897-C21F-4F01-89E7-FEE9FFE20ED7}" v="496" dt="2026-03-16T12:32:31.623"/>
    <p1510:client id="{94F14D59-0FF5-9E15-76A3-81CD5CC72D9B}" v="144" dt="2026-03-16T08:47:16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9FB132-BB27-99FD-891E-8833DB3C8F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CC5B65-88DF-AF7D-ADAF-D7A780ACF4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B22C-D93F-4C03-B31C-07A8624751C5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067527-D671-FFAB-7DDD-9CBF59BE5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EC9FA-BDB6-E56A-E49B-7B2A91D7A9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AE1DF-7C57-4FAA-9A0E-D96EE08855C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726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E896C-6B49-4092-84F3-CFBC644769FD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53F03-060C-4C21-9A05-1F78D49108A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74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88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13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D417-B7CF-E405-3D9B-96129002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BC118-352F-C19F-5A9B-DE3EAD232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54924-E7F2-E6CC-9003-D2DCEC898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4564E-175D-923C-1BDF-578416F48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592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779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Computer Science is an </a:t>
            </a:r>
            <a:r>
              <a:rPr lang="da-DK" err="1"/>
              <a:t>important</a:t>
            </a:r>
            <a:r>
              <a:rPr lang="da-DK"/>
              <a:t> part </a:t>
            </a:r>
            <a:r>
              <a:rPr lang="da-DK" err="1"/>
              <a:t>both</a:t>
            </a:r>
            <a:r>
              <a:rPr lang="da-DK"/>
              <a:t> in </a:t>
            </a:r>
            <a:r>
              <a:rPr lang="da-DK" err="1"/>
              <a:t>academia</a:t>
            </a:r>
            <a:r>
              <a:rPr lang="da-DK"/>
              <a:t> (research) and </a:t>
            </a:r>
            <a:r>
              <a:rPr lang="da-DK" err="1"/>
              <a:t>industry</a:t>
            </a:r>
            <a:r>
              <a:rPr lang="da-DK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642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Increased demand for data science skills in the pharma industry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We produce more and more data given the advances in technology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789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283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FUNCTIONS:</a:t>
            </a:r>
          </a:p>
          <a:p>
            <a:r>
              <a:rPr lang="da-DK" err="1"/>
              <a:t>Rule</a:t>
            </a:r>
            <a:r>
              <a:rPr lang="da-DK"/>
              <a:t> of </a:t>
            </a:r>
            <a:r>
              <a:rPr lang="da-DK" err="1"/>
              <a:t>thumb</a:t>
            </a:r>
            <a:r>
              <a:rPr lang="da-DK"/>
              <a:t>: </a:t>
            </a:r>
            <a:r>
              <a:rPr lang="da-DK" err="1"/>
              <a:t>if</a:t>
            </a:r>
            <a:r>
              <a:rPr lang="da-DK"/>
              <a:t> </a:t>
            </a:r>
            <a:r>
              <a:rPr lang="da-DK" err="1"/>
              <a:t>you</a:t>
            </a:r>
            <a:r>
              <a:rPr lang="da-DK"/>
              <a:t> have to </a:t>
            </a:r>
            <a:r>
              <a:rPr lang="da-DK" err="1"/>
              <a:t>write</a:t>
            </a:r>
            <a:r>
              <a:rPr lang="da-DK"/>
              <a:t> the same </a:t>
            </a:r>
            <a:r>
              <a:rPr lang="da-DK" err="1"/>
              <a:t>code</a:t>
            </a:r>
            <a:r>
              <a:rPr lang="da-DK"/>
              <a:t> </a:t>
            </a:r>
            <a:r>
              <a:rPr lang="da-DK" err="1"/>
              <a:t>two</a:t>
            </a:r>
            <a:r>
              <a:rPr lang="da-DK"/>
              <a:t> (or more ) time -&gt; </a:t>
            </a:r>
            <a:r>
              <a:rPr lang="da-DK" err="1"/>
              <a:t>make</a:t>
            </a:r>
            <a:r>
              <a:rPr lang="da-DK"/>
              <a:t> a </a:t>
            </a:r>
            <a:r>
              <a:rPr lang="da-DK" err="1"/>
              <a:t>function</a:t>
            </a:r>
            <a:r>
              <a:rPr lang="da-DK"/>
              <a:t> out of it. </a:t>
            </a:r>
          </a:p>
          <a:p>
            <a:r>
              <a:rPr lang="da-DK"/>
              <a:t>This </a:t>
            </a:r>
            <a:r>
              <a:rPr lang="da-DK" err="1"/>
              <a:t>way</a:t>
            </a:r>
            <a:r>
              <a:rPr lang="da-DK"/>
              <a:t>,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minimize</a:t>
            </a:r>
            <a:r>
              <a:rPr lang="da-DK"/>
              <a:t> </a:t>
            </a:r>
            <a:r>
              <a:rPr lang="da-DK" err="1"/>
              <a:t>errors</a:t>
            </a:r>
            <a:r>
              <a:rPr lang="da-DK"/>
              <a:t> and </a:t>
            </a:r>
            <a:r>
              <a:rPr lang="da-DK" err="1"/>
              <a:t>you</a:t>
            </a:r>
            <a:r>
              <a:rPr lang="da-DK"/>
              <a:t> have to </a:t>
            </a:r>
            <a:r>
              <a:rPr lang="da-DK" err="1"/>
              <a:t>write</a:t>
            </a:r>
            <a:r>
              <a:rPr lang="da-DK"/>
              <a:t> </a:t>
            </a:r>
            <a:r>
              <a:rPr lang="da-DK" err="1"/>
              <a:t>less</a:t>
            </a:r>
            <a:r>
              <a:rPr lang="da-DK"/>
              <a:t> </a:t>
            </a:r>
            <a:r>
              <a:rPr lang="da-DK" err="1"/>
              <a:t>code</a:t>
            </a:r>
            <a:r>
              <a:rPr lang="da-DK"/>
              <a:t>. </a:t>
            </a:r>
          </a:p>
          <a:p>
            <a:endParaRPr lang="da-DK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 err="1"/>
              <a:t>Think</a:t>
            </a:r>
            <a:r>
              <a:rPr lang="da-DK"/>
              <a:t> of a </a:t>
            </a:r>
            <a:r>
              <a:rPr lang="da-DK" err="1"/>
              <a:t>function</a:t>
            </a:r>
            <a:r>
              <a:rPr lang="da-DK"/>
              <a:t> like a blender.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can</a:t>
            </a:r>
            <a:r>
              <a:rPr lang="da-DK"/>
              <a:t> </a:t>
            </a:r>
            <a:r>
              <a:rPr lang="da-DK" err="1"/>
              <a:t>use</a:t>
            </a:r>
            <a:r>
              <a:rPr lang="da-DK"/>
              <a:t> it to </a:t>
            </a:r>
            <a:r>
              <a:rPr lang="da-DK" err="1"/>
              <a:t>make</a:t>
            </a:r>
            <a:r>
              <a:rPr lang="da-DK"/>
              <a:t> a smoothie out of bananas and </a:t>
            </a:r>
            <a:r>
              <a:rPr lang="da-DK" err="1"/>
              <a:t>apples</a:t>
            </a:r>
            <a:r>
              <a:rPr lang="da-DK"/>
              <a:t>. If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want</a:t>
            </a:r>
            <a:r>
              <a:rPr lang="da-DK"/>
              <a:t> to have </a:t>
            </a:r>
            <a:r>
              <a:rPr lang="da-DK" err="1"/>
              <a:t>another</a:t>
            </a:r>
            <a:r>
              <a:rPr lang="da-DK"/>
              <a:t> smoothie made of </a:t>
            </a:r>
            <a:r>
              <a:rPr lang="da-DK" err="1"/>
              <a:t>strawberries</a:t>
            </a:r>
            <a:r>
              <a:rPr lang="da-DK"/>
              <a:t> and </a:t>
            </a:r>
            <a:r>
              <a:rPr lang="da-DK" err="1"/>
              <a:t>apples</a:t>
            </a:r>
            <a:r>
              <a:rPr lang="da-DK"/>
              <a:t>,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don’t</a:t>
            </a:r>
            <a:r>
              <a:rPr lang="da-DK"/>
              <a:t> by a new blender –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reuse</a:t>
            </a:r>
            <a:r>
              <a:rPr lang="da-DK"/>
              <a:t> the </a:t>
            </a:r>
            <a:r>
              <a:rPr lang="da-DK" err="1"/>
              <a:t>one</a:t>
            </a:r>
            <a:r>
              <a:rPr lang="da-DK"/>
              <a:t>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already</a:t>
            </a:r>
            <a:r>
              <a:rPr lang="da-DK"/>
              <a:t> have, </a:t>
            </a:r>
            <a:r>
              <a:rPr lang="da-DK" err="1"/>
              <a:t>because</a:t>
            </a:r>
            <a:r>
              <a:rPr lang="da-DK"/>
              <a:t> it provides </a:t>
            </a:r>
            <a:r>
              <a:rPr lang="da-DK" err="1"/>
              <a:t>exactly</a:t>
            </a:r>
            <a:r>
              <a:rPr lang="da-DK"/>
              <a:t> the </a:t>
            </a:r>
            <a:r>
              <a:rPr lang="da-DK" err="1"/>
              <a:t>functionality</a:t>
            </a:r>
            <a:r>
              <a:rPr lang="da-DK"/>
              <a:t>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need</a:t>
            </a:r>
            <a:r>
              <a:rPr lang="da-DK"/>
              <a:t>!</a:t>
            </a:r>
          </a:p>
          <a:p>
            <a:endParaRPr lang="da-DK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097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589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040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Missing line of Code:</a:t>
            </a:r>
            <a:br>
              <a:rPr lang="da-DK"/>
            </a:br>
            <a:r>
              <a:rPr lang="da-DK" err="1"/>
              <a:t>std_slope</a:t>
            </a:r>
            <a:r>
              <a:rPr lang="da-DK"/>
              <a:t>     &lt;- 0.04478    # </a:t>
            </a:r>
            <a:r>
              <a:rPr lang="da-DK" err="1"/>
              <a:t>absorbance</a:t>
            </a:r>
            <a:r>
              <a:rPr lang="da-DK"/>
              <a:t> units per µg/</a:t>
            </a:r>
            <a:r>
              <a:rPr lang="da-DK" err="1"/>
              <a:t>mL</a:t>
            </a:r>
            <a:endParaRPr lang="da-DK"/>
          </a:p>
          <a:p>
            <a:endParaRPr lang="da-DK"/>
          </a:p>
          <a:p>
            <a:endParaRPr lang="da-DK"/>
          </a:p>
          <a:p>
            <a:r>
              <a:rPr lang="da-DK" err="1"/>
              <a:t>Use</a:t>
            </a:r>
            <a:r>
              <a:rPr lang="da-DK"/>
              <a:t> it to </a:t>
            </a:r>
            <a:r>
              <a:rPr lang="da-DK" err="1"/>
              <a:t>learn</a:t>
            </a:r>
            <a:r>
              <a:rPr lang="da-DK"/>
              <a:t> </a:t>
            </a:r>
            <a:r>
              <a:rPr lang="da-DK" err="1"/>
              <a:t>about</a:t>
            </a:r>
            <a:r>
              <a:rPr lang="da-DK"/>
              <a:t> </a:t>
            </a:r>
            <a:r>
              <a:rPr lang="da-DK" err="1"/>
              <a:t>functions</a:t>
            </a:r>
            <a:r>
              <a:rPr lang="da-DK"/>
              <a:t> &amp; to understand </a:t>
            </a:r>
            <a:r>
              <a:rPr lang="da-DK" err="1"/>
              <a:t>code</a:t>
            </a:r>
            <a:r>
              <a:rPr lang="da-DK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53F03-060C-4C21-9A05-1F78D49108A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074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65C457-0940-D4A8-CD16-69FA458DBB37}"/>
              </a:ext>
            </a:extLst>
          </p:cNvPr>
          <p:cNvSpPr/>
          <p:nvPr userDrawn="1"/>
        </p:nvSpPr>
        <p:spPr>
          <a:xfrm>
            <a:off x="-1" y="0"/>
            <a:ext cx="6186115" cy="6858000"/>
          </a:xfrm>
          <a:prstGeom prst="rect">
            <a:avLst/>
          </a:prstGeom>
          <a:solidFill>
            <a:srgbClr val="3C5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87DD9-FD10-792D-B04C-22D3C30F5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2" t="18970" r="1217" b="18400"/>
          <a:stretch>
            <a:fillRect/>
          </a:stretch>
        </p:blipFill>
        <p:spPr>
          <a:xfrm>
            <a:off x="7368594" y="1614113"/>
            <a:ext cx="3511377" cy="3231423"/>
          </a:xfrm>
          <a:prstGeom prst="rect">
            <a:avLst/>
          </a:prstGeom>
          <a:noFill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187746-DD3D-DE7D-D628-34DC8260220B}"/>
              </a:ext>
            </a:extLst>
          </p:cNvPr>
          <p:cNvCxnSpPr>
            <a:cxnSpLocks/>
          </p:cNvCxnSpPr>
          <p:nvPr userDrawn="1"/>
        </p:nvCxnSpPr>
        <p:spPr>
          <a:xfrm>
            <a:off x="6786600" y="5295567"/>
            <a:ext cx="4464496" cy="0"/>
          </a:xfrm>
          <a:prstGeom prst="line">
            <a:avLst/>
          </a:prstGeom>
          <a:ln w="28575">
            <a:solidFill>
              <a:srgbClr val="D6C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8D8364-5DC3-F27A-D8D7-A6C34D3AEB7B}"/>
              </a:ext>
            </a:extLst>
          </p:cNvPr>
          <p:cNvSpPr txBox="1"/>
          <p:nvPr userDrawn="1"/>
        </p:nvSpPr>
        <p:spPr>
          <a:xfrm>
            <a:off x="6730941" y="5442349"/>
            <a:ext cx="478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 for Pharmaceutical Data Science Education</a:t>
            </a:r>
          </a:p>
        </p:txBody>
      </p:sp>
      <p:pic>
        <p:nvPicPr>
          <p:cNvPr id="11" name="Picture 10" descr="A white text with a cherry and a leaf on a black background&#10;&#10;AI-generated content may be incorrect.">
            <a:extLst>
              <a:ext uri="{FF2B5EF4-FFF2-40B4-BE49-F238E27FC236}">
                <a16:creationId xmlns:a16="http://schemas.microsoft.com/office/drawing/2014/main" id="{E94A105C-2FA9-798A-51A1-517A8DD31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53" y="5780903"/>
            <a:ext cx="3129683" cy="1260000"/>
          </a:xfrm>
          <a:prstGeom prst="rect">
            <a:avLst/>
          </a:prstGeom>
        </p:spPr>
      </p:pic>
      <p:pic>
        <p:nvPicPr>
          <p:cNvPr id="13" name="Picture 12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A40FC62-F518-ECB8-6E9A-769D8FA3B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39" y="5780903"/>
            <a:ext cx="2731206" cy="10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D5704-9310-93D0-26DC-2975E518D8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1751" y="529384"/>
            <a:ext cx="5487379" cy="206857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F9F9F9"/>
                </a:solidFill>
              </a:defRPr>
            </a:lvl1pPr>
          </a:lstStyle>
          <a:p>
            <a:r>
              <a:rPr lang="en-GB"/>
              <a:t>Master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5D45D0E-1672-E010-2110-3DC20540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51" y="2744744"/>
            <a:ext cx="5487378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F9F9F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634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65C457-0940-D4A8-CD16-69FA458DBB37}"/>
              </a:ext>
            </a:extLst>
          </p:cNvPr>
          <p:cNvSpPr/>
          <p:nvPr userDrawn="1"/>
        </p:nvSpPr>
        <p:spPr>
          <a:xfrm>
            <a:off x="-1" y="0"/>
            <a:ext cx="6186115" cy="6858000"/>
          </a:xfrm>
          <a:prstGeom prst="rect">
            <a:avLst/>
          </a:prstGeom>
          <a:solidFill>
            <a:srgbClr val="3C5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9F9F9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87DD9-FD10-792D-B04C-22D3C30F5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592" t="18970" r="1217" b="18400"/>
          <a:stretch>
            <a:fillRect/>
          </a:stretch>
        </p:blipFill>
        <p:spPr>
          <a:xfrm>
            <a:off x="7368594" y="1614113"/>
            <a:ext cx="3511377" cy="3231423"/>
          </a:xfrm>
          <a:prstGeom prst="rect">
            <a:avLst/>
          </a:prstGeom>
          <a:noFill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187746-DD3D-DE7D-D628-34DC8260220B}"/>
              </a:ext>
            </a:extLst>
          </p:cNvPr>
          <p:cNvCxnSpPr>
            <a:cxnSpLocks/>
          </p:cNvCxnSpPr>
          <p:nvPr userDrawn="1"/>
        </p:nvCxnSpPr>
        <p:spPr>
          <a:xfrm>
            <a:off x="6786600" y="5295567"/>
            <a:ext cx="4464496" cy="0"/>
          </a:xfrm>
          <a:prstGeom prst="line">
            <a:avLst/>
          </a:prstGeom>
          <a:ln w="28575">
            <a:solidFill>
              <a:srgbClr val="D6C1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white text with a cherry and a leaf on a black background&#10;&#10;AI-generated content may be incorrect.">
            <a:extLst>
              <a:ext uri="{FF2B5EF4-FFF2-40B4-BE49-F238E27FC236}">
                <a16:creationId xmlns:a16="http://schemas.microsoft.com/office/drawing/2014/main" id="{E94A105C-2FA9-798A-51A1-517A8DD31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53" y="5780903"/>
            <a:ext cx="3129683" cy="1260000"/>
          </a:xfrm>
          <a:prstGeom prst="rect">
            <a:avLst/>
          </a:prstGeom>
        </p:spPr>
      </p:pic>
      <p:pic>
        <p:nvPicPr>
          <p:cNvPr id="13" name="Picture 12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6A40FC62-F518-ECB8-6E9A-769D8FA3B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39" y="5780903"/>
            <a:ext cx="2731206" cy="10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D5704-9310-93D0-26DC-2975E518D8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1751" y="529384"/>
            <a:ext cx="5487379" cy="206857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rgbClr val="D6C17C"/>
                </a:solidFill>
              </a:defRPr>
            </a:lvl1pPr>
          </a:lstStyle>
          <a:p>
            <a:r>
              <a:rPr lang="en-GB"/>
              <a:t>Master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5D45D0E-1672-E010-2110-3DC20540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751" y="2744744"/>
            <a:ext cx="5487378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D6C17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401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EFEB6-E0D1-B405-9D0D-8260347A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DEB73-330C-F744-56BD-D78CA7F8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20EF-E94D-2079-05DD-900B2817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64763-4180-9126-5C98-B18785F49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B5FA29-4546-9756-F9A9-CC1F62CE6F1D}"/>
              </a:ext>
            </a:extLst>
          </p:cNvPr>
          <p:cNvSpPr/>
          <p:nvPr userDrawn="1"/>
        </p:nvSpPr>
        <p:spPr>
          <a:xfrm>
            <a:off x="1075509" y="1101728"/>
            <a:ext cx="10058400" cy="4619708"/>
          </a:xfrm>
          <a:prstGeom prst="rect">
            <a:avLst/>
          </a:prstGeom>
          <a:solidFill>
            <a:srgbClr val="3C5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b="1">
              <a:solidFill>
                <a:srgbClr val="D6C17C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7339CD-3DF1-C5A1-1FA1-BAB673BE45C2}"/>
              </a:ext>
            </a:extLst>
          </p:cNvPr>
          <p:cNvCxnSpPr>
            <a:cxnSpLocks/>
          </p:cNvCxnSpPr>
          <p:nvPr userDrawn="1"/>
        </p:nvCxnSpPr>
        <p:spPr>
          <a:xfrm>
            <a:off x="827690" y="953446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368E72-403C-5A28-4DBF-4D2984BDD360}"/>
              </a:ext>
            </a:extLst>
          </p:cNvPr>
          <p:cNvCxnSpPr>
            <a:cxnSpLocks/>
          </p:cNvCxnSpPr>
          <p:nvPr userDrawn="1"/>
        </p:nvCxnSpPr>
        <p:spPr>
          <a:xfrm>
            <a:off x="10788310" y="5868988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CEE5BE-5580-56DE-9C61-CB1B61AF3304}"/>
              </a:ext>
            </a:extLst>
          </p:cNvPr>
          <p:cNvCxnSpPr>
            <a:cxnSpLocks/>
          </p:cNvCxnSpPr>
          <p:nvPr userDrawn="1"/>
        </p:nvCxnSpPr>
        <p:spPr>
          <a:xfrm>
            <a:off x="11364310" y="5317198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912CBF-6021-A183-190E-A0BF6A9E6A90}"/>
              </a:ext>
            </a:extLst>
          </p:cNvPr>
          <p:cNvCxnSpPr>
            <a:cxnSpLocks/>
          </p:cNvCxnSpPr>
          <p:nvPr userDrawn="1"/>
        </p:nvCxnSpPr>
        <p:spPr>
          <a:xfrm>
            <a:off x="835570" y="921916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A70F2C4-1D03-89AD-45EA-59303CB686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4818" y="2766218"/>
            <a:ext cx="5622364" cy="1325563"/>
          </a:xfrm>
        </p:spPr>
        <p:txBody>
          <a:bodyPr>
            <a:normAutofit/>
          </a:bodyPr>
          <a:lstStyle>
            <a:lvl1pPr marL="360000" algn="ctr">
              <a:defRPr sz="4000">
                <a:solidFill>
                  <a:srgbClr val="D6C17C"/>
                </a:solidFill>
              </a:defRPr>
            </a:lvl1pPr>
          </a:lstStyle>
          <a:p>
            <a:r>
              <a:rPr lang="en-GB"/>
              <a:t>New section</a:t>
            </a:r>
          </a:p>
        </p:txBody>
      </p:sp>
    </p:spTree>
    <p:extLst>
      <p:ext uri="{BB962C8B-B14F-4D97-AF65-F5344CB8AC3E}">
        <p14:creationId xmlns:p14="http://schemas.microsoft.com/office/powerpoint/2010/main" val="131924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3A40-B2EC-1C2B-A282-D9609BAB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360000">
              <a:defRPr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1630-1A47-73DA-4B56-C7AC3E35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rgbClr val="333333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C3E3-323E-B66C-2F68-AC1A729B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8F87A-1A6C-952A-EA67-09BED7C1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 for Pharmaceutical Data Science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725C-E3C2-CD93-FCEA-2AC7DEC7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520449-B730-FC1B-BB51-68D549F46E8A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C26AC3-743D-C537-C5F8-C554A93065D3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F3FA8DE-C477-CD76-5895-94C79133D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9BAB80-D4E1-8F24-0BE6-90AAE21BA0C2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664CDA-3592-697A-83CB-B457BF1ECDF0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18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9CEE-1D94-A64D-2606-D1DF54BD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360000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578F9-02C3-E051-2D23-F2FE961E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68E7A-6CC4-9ED0-F1E1-B8547B67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44720-C8DC-0E5A-3A1F-606E689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029566-C257-7AD3-33CD-DF0335A4C554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745EDF-3B99-9B9E-D339-82BFCE483552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9872C1-84D2-3AE3-D8DE-79458FD72FE3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5D8B2C-B4BE-4500-6DC5-5AA42F022612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A5235A2-C78C-FD7F-713E-4AEE86129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8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C3DA-76D9-CED1-7BD3-DBD02032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360000">
              <a:defRPr>
                <a:solidFill>
                  <a:srgbClr val="3C5E3E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13714-1FEF-A6B8-1A78-3494A0872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3C5E3E"/>
                </a:solidFill>
              </a:defRPr>
            </a:lvl1pPr>
            <a:lvl2pPr>
              <a:defRPr>
                <a:solidFill>
                  <a:srgbClr val="3C5E3E"/>
                </a:solidFill>
              </a:defRPr>
            </a:lvl2pPr>
            <a:lvl3pPr>
              <a:defRPr>
                <a:solidFill>
                  <a:srgbClr val="3C5E3E"/>
                </a:solidFill>
              </a:defRPr>
            </a:lvl3pPr>
            <a:lvl4pPr>
              <a:defRPr>
                <a:solidFill>
                  <a:srgbClr val="3C5E3E"/>
                </a:solidFill>
              </a:defRPr>
            </a:lvl4pPr>
            <a:lvl5pPr>
              <a:defRPr>
                <a:solidFill>
                  <a:srgbClr val="3C5E3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F7AAA-3866-B805-72F6-5928C7041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3C5E3E"/>
                </a:solidFill>
              </a:defRPr>
            </a:lvl1pPr>
            <a:lvl2pPr>
              <a:defRPr>
                <a:solidFill>
                  <a:srgbClr val="3C5E3E"/>
                </a:solidFill>
              </a:defRPr>
            </a:lvl2pPr>
            <a:lvl3pPr>
              <a:defRPr>
                <a:solidFill>
                  <a:srgbClr val="3C5E3E"/>
                </a:solidFill>
              </a:defRPr>
            </a:lvl3pPr>
            <a:lvl4pPr>
              <a:defRPr>
                <a:solidFill>
                  <a:srgbClr val="3C5E3E"/>
                </a:solidFill>
              </a:defRPr>
            </a:lvl4pPr>
            <a:lvl5pPr>
              <a:defRPr>
                <a:solidFill>
                  <a:srgbClr val="3C5E3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3324-534D-BEBF-3F11-A7DB1CBF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F4638-9E11-FE54-66CB-CA723B47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 for Pharmaceutical Data Science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1ED35-7C3D-BD12-93FB-5675DC39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Slide </a:t>
            </a: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203C2C-D6E6-6F24-D9C8-EB44F68DD3F6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E48693-DED8-E6C3-587F-7279E0EAB25B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4432C1-1725-4E9E-8ABD-281EF2E62019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A5F93C-348A-D661-6DC9-64A08B7B3FD0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52F8193-6D38-269E-032D-4D789C7E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98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5F7C-C450-5D32-DFB3-ADD69C0D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>
                <a:solidFill>
                  <a:srgbClr val="3C5E3E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64F8-93FD-DC5A-2B8D-9F1099E5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3C5E3E"/>
                </a:solidFill>
              </a:defRPr>
            </a:lvl1pPr>
            <a:lvl2pPr>
              <a:defRPr sz="2800">
                <a:solidFill>
                  <a:srgbClr val="3C5E3E"/>
                </a:solidFill>
              </a:defRPr>
            </a:lvl2pPr>
            <a:lvl3pPr>
              <a:defRPr sz="2400">
                <a:solidFill>
                  <a:srgbClr val="3C5E3E"/>
                </a:solidFill>
              </a:defRPr>
            </a:lvl3pPr>
            <a:lvl4pPr>
              <a:defRPr sz="2000">
                <a:solidFill>
                  <a:srgbClr val="3C5E3E"/>
                </a:solidFill>
              </a:defRPr>
            </a:lvl4pPr>
            <a:lvl5pPr>
              <a:defRPr sz="2000">
                <a:solidFill>
                  <a:srgbClr val="3C5E3E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5992E-5277-30B5-CEA0-A07B4901F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3C5E3E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AE1A0D-FA12-709A-9C3D-083D2705B3B3}"/>
              </a:ext>
            </a:extLst>
          </p:cNvPr>
          <p:cNvCxnSpPr>
            <a:cxnSpLocks/>
          </p:cNvCxnSpPr>
          <p:nvPr userDrawn="1"/>
        </p:nvCxnSpPr>
        <p:spPr>
          <a:xfrm>
            <a:off x="827690" y="953446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88337-8FD6-3ECE-BB5D-19FC7CEA88D0}"/>
              </a:ext>
            </a:extLst>
          </p:cNvPr>
          <p:cNvCxnSpPr>
            <a:cxnSpLocks/>
          </p:cNvCxnSpPr>
          <p:nvPr userDrawn="1"/>
        </p:nvCxnSpPr>
        <p:spPr>
          <a:xfrm>
            <a:off x="10788310" y="5868988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7205CF-82EE-E4E2-0974-9DCE98F91053}"/>
              </a:ext>
            </a:extLst>
          </p:cNvPr>
          <p:cNvCxnSpPr>
            <a:cxnSpLocks/>
          </p:cNvCxnSpPr>
          <p:nvPr userDrawn="1"/>
        </p:nvCxnSpPr>
        <p:spPr>
          <a:xfrm>
            <a:off x="11364310" y="5317198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DD4157-4B94-1233-32DE-B2AC652B07AB}"/>
              </a:ext>
            </a:extLst>
          </p:cNvPr>
          <p:cNvCxnSpPr>
            <a:cxnSpLocks/>
          </p:cNvCxnSpPr>
          <p:nvPr userDrawn="1"/>
        </p:nvCxnSpPr>
        <p:spPr>
          <a:xfrm>
            <a:off x="835570" y="921916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BB336488-E99A-0A21-24BA-DB0B7617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121E4997-D8BF-2435-B9DE-007E8EA1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 for Pharmaceutical Data Science Education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E9DB1126-D93D-E3EB-5A42-EFB51B03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Slide </a:t>
            </a: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D6F7A-C0E7-7989-77F6-B2120150B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E097DA-0255-0E21-E463-2F8E4BBE2CCA}"/>
              </a:ext>
            </a:extLst>
          </p:cNvPr>
          <p:cNvSpPr/>
          <p:nvPr userDrawn="1"/>
        </p:nvSpPr>
        <p:spPr>
          <a:xfrm>
            <a:off x="966082" y="1078935"/>
            <a:ext cx="10277061" cy="4669857"/>
          </a:xfrm>
          <a:prstGeom prst="rect">
            <a:avLst/>
          </a:prstGeom>
          <a:solidFill>
            <a:srgbClr val="3C5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000" b="1">
              <a:solidFill>
                <a:srgbClr val="D6C17C"/>
              </a:solidFill>
              <a:latin typeface="Aptos" panose="020B00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ED1E58-3D08-EE95-0936-9FEC85895FF0}"/>
              </a:ext>
            </a:extLst>
          </p:cNvPr>
          <p:cNvGrpSpPr/>
          <p:nvPr userDrawn="1"/>
        </p:nvGrpSpPr>
        <p:grpSpPr>
          <a:xfrm>
            <a:off x="1804946" y="2234317"/>
            <a:ext cx="5883964" cy="2154711"/>
            <a:chOff x="3912042" y="2504661"/>
            <a:chExt cx="5883964" cy="2154711"/>
          </a:xfrm>
        </p:grpSpPr>
        <p:pic>
          <p:nvPicPr>
            <p:cNvPr id="8" name="Picture 7" descr="A white globe with a cursor&#10;&#10;AI-generated content may be incorrect.">
              <a:extLst>
                <a:ext uri="{FF2B5EF4-FFF2-40B4-BE49-F238E27FC236}">
                  <a16:creationId xmlns:a16="http://schemas.microsoft.com/office/drawing/2014/main" id="{3EDD8794-05D5-6DA4-C7B4-E1263A123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375" b="94500" l="3625" r="95000">
                          <a14:foregroundMark x1="33000" y1="6875" x2="33000" y2="6875"/>
                          <a14:foregroundMark x1="47625" y1="3875" x2="47625" y2="3875"/>
                          <a14:foregroundMark x1="8000" y1="29625" x2="8000" y2="29625"/>
                          <a14:foregroundMark x1="5000" y1="48000" x2="5000" y2="48000"/>
                          <a14:foregroundMark x1="67125" y1="72250" x2="67125" y2="72250"/>
                          <a14:foregroundMark x1="83125" y1="94500" x2="83125" y2="94500"/>
                          <a14:foregroundMark x1="95000" y1="76000" x2="95000" y2="76000"/>
                          <a14:foregroundMark x1="51000" y1="3375" x2="51000" y2="3375"/>
                          <a14:foregroundMark x1="9625" y1="24500" x2="9625" y2="24500"/>
                          <a14:foregroundMark x1="4750" y1="35750" x2="4750" y2="35750"/>
                          <a14:foregroundMark x1="3625" y1="43750" x2="3625" y2="43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041" y="3407134"/>
              <a:ext cx="252000" cy="252000"/>
            </a:xfrm>
            <a:prstGeom prst="rect">
              <a:avLst/>
            </a:prstGeom>
          </p:spPr>
        </p:pic>
        <p:pic>
          <p:nvPicPr>
            <p:cNvPr id="9" name="Picture 8" descr="A logo of a camera&#10;&#10;AI-generated content may be incorrect.">
              <a:extLst>
                <a:ext uri="{FF2B5EF4-FFF2-40B4-BE49-F238E27FC236}">
                  <a16:creationId xmlns:a16="http://schemas.microsoft.com/office/drawing/2014/main" id="{5A6FE299-BFF7-B939-DB68-081522269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0781" y1="41094" x2="50781" y2="41094"/>
                          <a14:foregroundMark x1="63125" y1="40156" x2="63125" y2="4015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8041" y="4083372"/>
              <a:ext cx="576000" cy="576000"/>
            </a:xfrm>
            <a:prstGeom prst="rect">
              <a:avLst/>
            </a:prstGeom>
          </p:spPr>
        </p:pic>
        <p:pic>
          <p:nvPicPr>
            <p:cNvPr id="10" name="Picture 9" descr="A white square with black letters&#10;&#10;AI-generated content may be incorrect.">
              <a:extLst>
                <a:ext uri="{FF2B5EF4-FFF2-40B4-BE49-F238E27FC236}">
                  <a16:creationId xmlns:a16="http://schemas.microsoft.com/office/drawing/2014/main" id="{A57CB337-4B40-E796-3A36-62908BC6D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9514" y="3767134"/>
              <a:ext cx="360000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B838C2-4F34-CE10-4EB5-04D343C6B5E5}"/>
                </a:ext>
              </a:extLst>
            </p:cNvPr>
            <p:cNvSpPr txBox="1"/>
            <p:nvPr/>
          </p:nvSpPr>
          <p:spPr>
            <a:xfrm>
              <a:off x="4436475" y="3397938"/>
              <a:ext cx="16818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chemeClr val="bg1"/>
                  </a:solidFill>
                </a:rPr>
                <a:t>www.cpdse.dk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4873ED-4E74-8AEE-037A-BC0389BA605D}"/>
                </a:ext>
              </a:extLst>
            </p:cNvPr>
            <p:cNvSpPr txBox="1"/>
            <p:nvPr/>
          </p:nvSpPr>
          <p:spPr>
            <a:xfrm>
              <a:off x="4414169" y="3804045"/>
              <a:ext cx="53818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chemeClr val="bg1"/>
                  </a:solidFill>
                </a:rPr>
                <a:t>Center for Pharmaceutical Data Science Education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517CFE-B746-D89F-F22E-90ACE3754E21}"/>
                </a:ext>
              </a:extLst>
            </p:cNvPr>
            <p:cNvSpPr txBox="1"/>
            <p:nvPr/>
          </p:nvSpPr>
          <p:spPr>
            <a:xfrm>
              <a:off x="4436475" y="4214040"/>
              <a:ext cx="16818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>
                  <a:solidFill>
                    <a:schemeClr val="bg1"/>
                  </a:solidFill>
                </a:rPr>
                <a:t>peopledatadrugs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29FE5A-CF74-1B5D-22E5-AE5E30A28127}"/>
                </a:ext>
              </a:extLst>
            </p:cNvPr>
            <p:cNvSpPr txBox="1"/>
            <p:nvPr/>
          </p:nvSpPr>
          <p:spPr>
            <a:xfrm>
              <a:off x="3912042" y="2504661"/>
              <a:ext cx="41903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b="1">
                  <a:solidFill>
                    <a:schemeClr val="bg1"/>
                  </a:solidFill>
                  <a:latin typeface="Aptos" panose="020B0004020202020204" pitchFamily="34" charset="0"/>
                </a:rPr>
                <a:t>Follow CPDSE on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636AC43-828A-2F50-4A90-212C8339A8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56337" y="2093701"/>
            <a:ext cx="3289653" cy="288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7E0710D-3B75-9ADF-1398-01FEE5DD949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6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5704-9310-93D0-26DC-2975E518D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0421"/>
            <a:ext cx="9144000" cy="1909763"/>
          </a:xfrm>
        </p:spPr>
        <p:txBody>
          <a:bodyPr anchor="b"/>
          <a:lstStyle>
            <a:lvl1pPr algn="ctr">
              <a:defRPr sz="6000">
                <a:solidFill>
                  <a:srgbClr val="3C5E3E"/>
                </a:solidFill>
              </a:defRPr>
            </a:lvl1pPr>
          </a:lstStyle>
          <a:p>
            <a:r>
              <a:rPr lang="en-GB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661F9-0D43-FB9A-F8D9-24A14B96F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62260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C5E3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5AB31E-7447-67F4-2F1C-D38D1436D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2581" t="15526" r="2568" b="15612"/>
          <a:stretch>
            <a:fillRect/>
          </a:stretch>
        </p:blipFill>
        <p:spPr>
          <a:xfrm>
            <a:off x="3906000" y="1000438"/>
            <a:ext cx="4382589" cy="449714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048EFA-3ABE-B9CD-3248-0C7F43AEE696}"/>
              </a:ext>
            </a:extLst>
          </p:cNvPr>
          <p:cNvSpPr txBox="1"/>
          <p:nvPr userDrawn="1"/>
        </p:nvSpPr>
        <p:spPr>
          <a:xfrm>
            <a:off x="3475344" y="5651111"/>
            <a:ext cx="5241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 panose="020B0502040204020203" pitchFamily="34" charset="0"/>
                <a:ea typeface="+mn-ea"/>
                <a:cs typeface="Microsoft New Tai Lue" panose="020B0502040204020203" pitchFamily="34" charset="0"/>
              </a:rPr>
              <a:t>Center for Pharmaceutical Data Science Education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A87721-3292-E391-8228-05FE03707714}"/>
              </a:ext>
            </a:extLst>
          </p:cNvPr>
          <p:cNvCxnSpPr>
            <a:cxnSpLocks/>
          </p:cNvCxnSpPr>
          <p:nvPr userDrawn="1"/>
        </p:nvCxnSpPr>
        <p:spPr>
          <a:xfrm>
            <a:off x="2856000" y="5467470"/>
            <a:ext cx="6480000" cy="0"/>
          </a:xfrm>
          <a:prstGeom prst="line">
            <a:avLst/>
          </a:prstGeom>
          <a:ln w="28575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98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3A40-B2EC-1C2B-A282-D9609BAB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360000">
              <a:defRPr>
                <a:solidFill>
                  <a:srgbClr val="3C5E3E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1630-1A47-73DA-4B56-C7AC3E35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C5E3E"/>
                </a:solidFill>
              </a:defRPr>
            </a:lvl1pPr>
            <a:lvl2pPr>
              <a:defRPr>
                <a:solidFill>
                  <a:srgbClr val="3C5E3E"/>
                </a:solidFill>
              </a:defRPr>
            </a:lvl2pPr>
            <a:lvl3pPr>
              <a:defRPr>
                <a:solidFill>
                  <a:srgbClr val="3C5E3E"/>
                </a:solidFill>
              </a:defRPr>
            </a:lvl3pPr>
            <a:lvl4pPr>
              <a:defRPr>
                <a:solidFill>
                  <a:srgbClr val="3C5E3E"/>
                </a:solidFill>
              </a:defRPr>
            </a:lvl4pPr>
            <a:lvl5pPr>
              <a:defRPr>
                <a:solidFill>
                  <a:srgbClr val="3C5E3E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C3E3-323E-B66C-2F68-AC1A729B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8F87A-1A6C-952A-EA67-09BED7C1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 for Pharmaceutical Data Science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725C-E3C2-CD93-FCEA-2AC7DEC7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DF0AFA-7B7E-3890-F7D5-7F5845DCAB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-4416" t="19810" r="-4427" b="30319"/>
          <a:stretch>
            <a:fillRect/>
          </a:stretch>
        </p:blipFill>
        <p:spPr>
          <a:xfrm>
            <a:off x="3465790" y="1690688"/>
            <a:ext cx="5482800" cy="3550766"/>
          </a:xfrm>
          <a:prstGeom prst="ellipse">
            <a:avLst/>
          </a:prstGeom>
          <a:noFill/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CCE1CA-99DB-A631-E89A-4A78AA0E0032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8B48D8-6122-49E2-B196-6E1EED9BB66E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BCB98A8-D959-6119-363B-D71EA6130256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FEC510-9FD2-6C6C-7FFF-362FF9B455E8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91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3AE1-8DF7-90AF-D657-C22530AE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360000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B771C-3646-3ED9-FA2D-AD682186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AFC31-2A99-A727-E51F-0F09A4C41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70147-09BF-45EE-668D-3E6976B7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421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5704-9310-93D0-26DC-2975E518D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0421"/>
            <a:ext cx="9144000" cy="1909763"/>
          </a:xfrm>
        </p:spPr>
        <p:txBody>
          <a:bodyPr anchor="b"/>
          <a:lstStyle>
            <a:lvl1pPr algn="ctr">
              <a:defRPr sz="6000"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661F9-0D43-FB9A-F8D9-24A14B96F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62260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3333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5AB31E-7447-67F4-2F1C-D38D1436D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</a:blip>
          <a:srcRect l="2581" t="15526" r="2568" b="15612"/>
          <a:stretch>
            <a:fillRect/>
          </a:stretch>
        </p:blipFill>
        <p:spPr>
          <a:xfrm>
            <a:off x="3906000" y="1000438"/>
            <a:ext cx="4382589" cy="449714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048EFA-3ABE-B9CD-3248-0C7F43AEE696}"/>
              </a:ext>
            </a:extLst>
          </p:cNvPr>
          <p:cNvSpPr txBox="1"/>
          <p:nvPr userDrawn="1"/>
        </p:nvSpPr>
        <p:spPr>
          <a:xfrm>
            <a:off x="3475344" y="5651111"/>
            <a:ext cx="5241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solidFill>
                  <a:srgbClr val="333333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Center for Pharmaceutical Data Science Education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A87721-3292-E391-8228-05FE03707714}"/>
              </a:ext>
            </a:extLst>
          </p:cNvPr>
          <p:cNvCxnSpPr>
            <a:cxnSpLocks/>
          </p:cNvCxnSpPr>
          <p:nvPr userDrawn="1"/>
        </p:nvCxnSpPr>
        <p:spPr>
          <a:xfrm>
            <a:off x="2856000" y="5467470"/>
            <a:ext cx="6480000" cy="0"/>
          </a:xfrm>
          <a:prstGeom prst="line">
            <a:avLst/>
          </a:prstGeom>
          <a:ln w="28575">
            <a:solidFill>
              <a:srgbClr val="E4D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30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3A40-B2EC-1C2B-A282-D9609BAB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1630-1A47-73DA-4B56-C7AC3E35C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rgbClr val="333333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FC3E3-323E-B66C-2F68-AC1A729B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fld id="{9AF301DA-1C9D-45E2-8D8B-44D6F7FD8FAA}" type="datetimeFigureOut">
              <a:rPr lang="en-GB" smtClean="0"/>
              <a:pPr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8F87A-1A6C-952A-EA67-09BED7C16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Center for Pharmaceutical Data Science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4725C-E3C2-CD93-FCEA-2AC7DEC7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fld id="{1DBE73D3-4536-4088-B042-0A4459772A0A}" type="slidenum">
              <a:rPr lang="en-GB" smtClean="0"/>
              <a:pPr/>
              <a:t>‹nr.›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06CFC9-8518-5E26-CCD0-28964763BF51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214CC9-9D76-4B8E-734E-9F82AB2C59FA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BB9DD9-B4D5-CA3B-B328-FBA1A15898A6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D854ED-558D-C4F5-2290-3BFD4232B971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CC90DC3-44DC-B319-C5ED-E9C6131D4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5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C3DA-76D9-CED1-7BD3-DBD02032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13714-1FEF-A6B8-1A78-3494A0872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rgbClr val="333333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F7AAA-3866-B805-72F6-5928C7041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333333"/>
                </a:solidFill>
              </a:defRPr>
            </a:lvl1pPr>
            <a:lvl2pPr>
              <a:defRPr>
                <a:solidFill>
                  <a:srgbClr val="333333"/>
                </a:solidFill>
              </a:defRPr>
            </a:lvl2pPr>
            <a:lvl3pPr>
              <a:defRPr>
                <a:solidFill>
                  <a:srgbClr val="333333"/>
                </a:solidFill>
              </a:defRPr>
            </a:lvl3pPr>
            <a:lvl4pPr>
              <a:defRPr>
                <a:solidFill>
                  <a:srgbClr val="333333"/>
                </a:solidFill>
              </a:defRPr>
            </a:lvl4pPr>
            <a:lvl5pPr>
              <a:defRPr>
                <a:solidFill>
                  <a:srgbClr val="333333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3324-534D-BEBF-3F11-A7DB1CBF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fld id="{9AF301DA-1C9D-45E2-8D8B-44D6F7FD8FAA}" type="datetimeFigureOut">
              <a:rPr lang="en-GB" smtClean="0"/>
              <a:pPr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F4638-9E11-FE54-66CB-CA723B47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Center for Pharmaceutical Data Science Education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1ED35-7C3D-BD12-93FB-5675DC39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Slide </a:t>
            </a:r>
            <a:fld id="{1DBE73D3-4536-4088-B042-0A4459772A0A}" type="slidenum">
              <a:rPr lang="en-GB" smtClean="0"/>
              <a:pPr/>
              <a:t>‹nr.›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F571AD-F3B3-8118-76C1-42148F8CF0D6}"/>
              </a:ext>
            </a:extLst>
          </p:cNvPr>
          <p:cNvCxnSpPr>
            <a:cxnSpLocks/>
          </p:cNvCxnSpPr>
          <p:nvPr userDrawn="1"/>
        </p:nvCxnSpPr>
        <p:spPr>
          <a:xfrm>
            <a:off x="838200" y="365125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E45CC-0866-ADEB-65C3-84715A57263B}"/>
              </a:ext>
            </a:extLst>
          </p:cNvPr>
          <p:cNvCxnSpPr>
            <a:cxnSpLocks/>
          </p:cNvCxnSpPr>
          <p:nvPr userDrawn="1"/>
        </p:nvCxnSpPr>
        <p:spPr>
          <a:xfrm>
            <a:off x="10777800" y="6183033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2A2ABB-3018-E730-B905-A59DBAE75AF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31243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B1E9BC-1163-BC40-807E-0C9B48FEF122}"/>
              </a:ext>
            </a:extLst>
          </p:cNvPr>
          <p:cNvCxnSpPr>
            <a:cxnSpLocks/>
          </p:cNvCxnSpPr>
          <p:nvPr userDrawn="1"/>
        </p:nvCxnSpPr>
        <p:spPr>
          <a:xfrm>
            <a:off x="846080" y="333595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CE9C383-4D02-4DEE-B4A9-65E87EA433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87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5F7C-C450-5D32-DFB3-ADD69C0D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64F8-93FD-DC5A-2B8D-9F1099E5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333333"/>
                </a:solidFill>
              </a:defRPr>
            </a:lvl1pPr>
            <a:lvl2pPr>
              <a:defRPr sz="2800">
                <a:solidFill>
                  <a:srgbClr val="333333"/>
                </a:solidFill>
              </a:defRPr>
            </a:lvl2pPr>
            <a:lvl3pPr>
              <a:defRPr sz="2400">
                <a:solidFill>
                  <a:srgbClr val="333333"/>
                </a:solidFill>
              </a:defRPr>
            </a:lvl3pPr>
            <a:lvl4pPr>
              <a:defRPr sz="2000">
                <a:solidFill>
                  <a:srgbClr val="333333"/>
                </a:solidFill>
              </a:defRPr>
            </a:lvl4pPr>
            <a:lvl5pPr>
              <a:defRPr sz="2000">
                <a:solidFill>
                  <a:srgbClr val="333333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5992E-5277-30B5-CEA0-A07B4901F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33333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AE1A0D-FA12-709A-9C3D-083D2705B3B3}"/>
              </a:ext>
            </a:extLst>
          </p:cNvPr>
          <p:cNvCxnSpPr>
            <a:cxnSpLocks/>
          </p:cNvCxnSpPr>
          <p:nvPr userDrawn="1"/>
        </p:nvCxnSpPr>
        <p:spPr>
          <a:xfrm>
            <a:off x="827690" y="953446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88337-8FD6-3ECE-BB5D-19FC7CEA88D0}"/>
              </a:ext>
            </a:extLst>
          </p:cNvPr>
          <p:cNvCxnSpPr>
            <a:cxnSpLocks/>
          </p:cNvCxnSpPr>
          <p:nvPr userDrawn="1"/>
        </p:nvCxnSpPr>
        <p:spPr>
          <a:xfrm>
            <a:off x="10788310" y="5868988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7205CF-82EE-E4E2-0974-9DCE98F91053}"/>
              </a:ext>
            </a:extLst>
          </p:cNvPr>
          <p:cNvCxnSpPr>
            <a:cxnSpLocks/>
          </p:cNvCxnSpPr>
          <p:nvPr userDrawn="1"/>
        </p:nvCxnSpPr>
        <p:spPr>
          <a:xfrm>
            <a:off x="11364310" y="5317198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DD4157-4B94-1233-32DE-B2AC652B07AB}"/>
              </a:ext>
            </a:extLst>
          </p:cNvPr>
          <p:cNvCxnSpPr>
            <a:cxnSpLocks/>
          </p:cNvCxnSpPr>
          <p:nvPr userDrawn="1"/>
        </p:nvCxnSpPr>
        <p:spPr>
          <a:xfrm>
            <a:off x="835570" y="921916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BB336488-E99A-0A21-24BA-DB0B7617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fld id="{9AF301DA-1C9D-45E2-8D8B-44D6F7FD8FAA}" type="datetimeFigureOut">
              <a:rPr lang="en-GB" smtClean="0"/>
              <a:pPr/>
              <a:t>18/03/2026</a:t>
            </a:fld>
            <a:endParaRPr lang="en-GB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121E4997-D8BF-2435-B9DE-007E8EA1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Center for Pharmaceutical Data Science Education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E9DB1126-D93D-E3EB-5A42-EFB51B03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Slide </a:t>
            </a:r>
            <a:fld id="{1DBE73D3-4536-4088-B042-0A4459772A0A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965AB-85CF-144E-E43B-55FB1FF7C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43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CAA9D-8E13-2F06-990B-E1F272113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87877-1B0A-0CAD-04F3-2CF5F8E6D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33333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69FCF6-4182-50BD-CBC7-3B9D2408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01DCAA-1D25-D2A2-AAD9-700A0E3EA06A}"/>
              </a:ext>
            </a:extLst>
          </p:cNvPr>
          <p:cNvCxnSpPr>
            <a:cxnSpLocks/>
          </p:cNvCxnSpPr>
          <p:nvPr userDrawn="1"/>
        </p:nvCxnSpPr>
        <p:spPr>
          <a:xfrm>
            <a:off x="827690" y="953446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D83EDB-C98D-2E97-F5E5-BD515B13E659}"/>
              </a:ext>
            </a:extLst>
          </p:cNvPr>
          <p:cNvCxnSpPr>
            <a:cxnSpLocks/>
          </p:cNvCxnSpPr>
          <p:nvPr userDrawn="1"/>
        </p:nvCxnSpPr>
        <p:spPr>
          <a:xfrm>
            <a:off x="835570" y="921916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A1F5ED-08BF-93FD-6EEA-76E40A20F17B}"/>
              </a:ext>
            </a:extLst>
          </p:cNvPr>
          <p:cNvCxnSpPr>
            <a:cxnSpLocks/>
          </p:cNvCxnSpPr>
          <p:nvPr userDrawn="1"/>
        </p:nvCxnSpPr>
        <p:spPr>
          <a:xfrm>
            <a:off x="10788310" y="5868988"/>
            <a:ext cx="576000" cy="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C6D620-C913-B610-7EB3-9EC20AABE855}"/>
              </a:ext>
            </a:extLst>
          </p:cNvPr>
          <p:cNvCxnSpPr>
            <a:cxnSpLocks/>
          </p:cNvCxnSpPr>
          <p:nvPr userDrawn="1"/>
        </p:nvCxnSpPr>
        <p:spPr>
          <a:xfrm>
            <a:off x="11364310" y="5317198"/>
            <a:ext cx="0" cy="576000"/>
          </a:xfrm>
          <a:prstGeom prst="line">
            <a:avLst/>
          </a:prstGeom>
          <a:ln w="63500">
            <a:solidFill>
              <a:srgbClr val="5F7D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02F0A17C-2797-E8A9-FBFA-7F3C9324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fld id="{9AF301DA-1C9D-45E2-8D8B-44D6F7FD8FAA}" type="datetimeFigureOut">
              <a:rPr lang="en-GB" smtClean="0"/>
              <a:pPr/>
              <a:t>18/03/2026</a:t>
            </a:fld>
            <a:endParaRPr lang="en-GB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CADC7E15-95EC-95E7-07CB-491490A3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Center for Pharmaceutical Data Science Education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96A6A14E-B1F6-01EE-F1EA-AEC774D5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rgbClr val="5F7D61"/>
                </a:solidFill>
              </a:defRPr>
            </a:lvl1pPr>
          </a:lstStyle>
          <a:p>
            <a:r>
              <a:rPr lang="en-GB"/>
              <a:t>Slide </a:t>
            </a:r>
            <a:fld id="{1DBE73D3-4536-4088-B042-0A4459772A0A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5C8655-9026-28A7-ABEE-9364D1FB2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0944936" y="240950"/>
            <a:ext cx="821615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1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EC8D0-C571-31F4-68A5-DD40C559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98EBC-3B8E-07EA-7BDA-9BDB712F9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4346-2DC3-9125-BE1D-EA64A560F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9CE8-021D-14DE-B436-74AF03D0A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F1754-601C-5745-659D-33EC14794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93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  <p:sldLayoutId id="2147483677" r:id="rId3"/>
    <p:sldLayoutId id="2147483672" r:id="rId4"/>
    <p:sldLayoutId id="2147483673" r:id="rId5"/>
    <p:sldLayoutId id="2147483674" r:id="rId6"/>
    <p:sldLayoutId id="2147483675" r:id="rId7"/>
    <p:sldLayoutId id="214748367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5E3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C5E3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C5E3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C5E3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C5E3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C5E3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EC8D0-C571-31F4-68A5-DD40C559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98EBC-3B8E-07EA-7BDA-9BDB712F9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4346-2DC3-9125-BE1D-EA64A560F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301DA-1C9D-45E2-8D8B-44D6F7FD8FAA}" type="datetimeFigureOut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18/03/2026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9CE8-021D-14DE-B436-74AF03D0A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F1754-601C-5745-659D-33EC14794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6C17C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BE73D3-4536-4088-B042-0A4459772A0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D6C17C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D6C17C"/>
              </a:solidFill>
              <a:effectLst/>
              <a:uLnTx/>
              <a:uFillTx/>
              <a:latin typeface="Microsoft New Tai Lu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74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5E3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C5E3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C5E3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C5E3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C5E3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C5E3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6F1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4EC8D0-C571-31F4-68A5-DD40C559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98EBC-3B8E-07EA-7BDA-9BDB712F9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4346-2DC3-9125-BE1D-EA64A560F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F7D61"/>
                </a:solidFill>
              </a:defRPr>
            </a:lvl1pPr>
          </a:lstStyle>
          <a:p>
            <a:fld id="{9AF301DA-1C9D-45E2-8D8B-44D6F7FD8FAA}" type="datetimeFigureOut">
              <a:rPr lang="en-GB" smtClean="0"/>
              <a:pPr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9CE8-021D-14DE-B436-74AF03D0A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5F7D61"/>
                </a:solidFill>
              </a:defRPr>
            </a:lvl1pPr>
          </a:lstStyle>
          <a:p>
            <a:r>
              <a:rPr lang="en-GB"/>
              <a:t>Center for Pharmaceutical Data Science Education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F1754-601C-5745-659D-33EC14794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5F7D61"/>
                </a:solidFill>
              </a:defRPr>
            </a:lvl1pPr>
          </a:lstStyle>
          <a:p>
            <a:fld id="{1DBE73D3-4536-4088-B042-0A4459772A0A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95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7" r:id="rId4"/>
    <p:sldLayoutId id="2147483668" r:id="rId5"/>
  </p:sldLayoutIdLst>
  <p:txStyles>
    <p:titleStyle>
      <a:lvl1pPr marL="36000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documentation.org/packages/base/versions/3.6.2/topics/seq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sv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43.svg"/><Relationship Id="rId9" Type="http://schemas.openxmlformats.org/officeDocument/2006/relationships/image" Target="../media/image48.png"/><Relationship Id="rId14" Type="http://schemas.openxmlformats.org/officeDocument/2006/relationships/image" Target="../media/image53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05B8-6E63-902B-D819-4CF8DF448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50" y="1060072"/>
            <a:ext cx="5487379" cy="935349"/>
          </a:xfrm>
        </p:spPr>
        <p:txBody>
          <a:bodyPr>
            <a:normAutofit/>
          </a:bodyPr>
          <a:lstStyle/>
          <a:p>
            <a:r>
              <a:rPr lang="en-US"/>
              <a:t>Pharma Code</a:t>
            </a:r>
            <a:r>
              <a:rPr lang="en-US">
                <a:cs typeface="Microsoft New Tai Lue"/>
              </a:rPr>
              <a:t> Club</a:t>
            </a:r>
            <a:endParaRPr lang="en-GB">
              <a:cs typeface="Microsoft New Tai L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4DDE7-DB60-8758-35D0-7FB1019ED60F}"/>
              </a:ext>
            </a:extLst>
          </p:cNvPr>
          <p:cNvSpPr txBox="1"/>
          <p:nvPr/>
        </p:nvSpPr>
        <p:spPr>
          <a:xfrm>
            <a:off x="6730941" y="5442349"/>
            <a:ext cx="47866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Center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Microsoft New Tai Lue"/>
                <a:ea typeface="+mn-ea"/>
                <a:cs typeface="+mn-cs"/>
              </a:rPr>
              <a:t> for Pharmaceutical Data Science Education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54F1E75-75EC-4892-9A19-49FAF0B4E598}"/>
              </a:ext>
            </a:extLst>
          </p:cNvPr>
          <p:cNvSpPr txBox="1">
            <a:spLocks/>
          </p:cNvSpPr>
          <p:nvPr/>
        </p:nvSpPr>
        <p:spPr>
          <a:xfrm>
            <a:off x="542534" y="4319086"/>
            <a:ext cx="4920764" cy="128704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D6C17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>
                <a:solidFill>
                  <a:schemeClr val="bg1"/>
                </a:solidFill>
                <a:cs typeface="Microsoft New Tai Lue"/>
              </a:rPr>
              <a:t>16/03-2026</a:t>
            </a:r>
            <a:endParaRPr lang="en-US" sz="2100" b="0">
              <a:solidFill>
                <a:srgbClr val="000000"/>
              </a:solidFill>
              <a:cs typeface="Microsoft New Tai Lue"/>
            </a:endParaRPr>
          </a:p>
          <a:p>
            <a:pPr>
              <a:lnSpc>
                <a:spcPct val="150000"/>
              </a:lnSpc>
            </a:pPr>
            <a:endParaRPr lang="en-US" sz="2000">
              <a:solidFill>
                <a:schemeClr val="bg1"/>
              </a:solidFill>
              <a:cs typeface="Microsoft New Tai Lue"/>
            </a:endParaRP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cs typeface="Microsoft New Tai Lue"/>
              </a:rPr>
              <a:t>Sebastian Jakobsen    (seja@sdu.dk)</a:t>
            </a:r>
          </a:p>
          <a:p>
            <a:pPr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cs typeface="Microsoft New Tai Lue"/>
              </a:rPr>
              <a:t>Sarah </a:t>
            </a:r>
            <a:r>
              <a:rPr lang="en-US" sz="2000" err="1">
                <a:solidFill>
                  <a:schemeClr val="bg1"/>
                </a:solidFill>
                <a:cs typeface="Microsoft New Tai Lue"/>
              </a:rPr>
              <a:t>Mittenentzwei</a:t>
            </a:r>
            <a:r>
              <a:rPr lang="en-US" sz="2000">
                <a:solidFill>
                  <a:schemeClr val="bg1"/>
                </a:solidFill>
                <a:cs typeface="Microsoft New Tai Lue"/>
              </a:rPr>
              <a:t>  (mittenentzwei@health.sdu.dk)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A14A98F-C5AE-F2BA-FDB9-609E5AFD9430}"/>
              </a:ext>
            </a:extLst>
          </p:cNvPr>
          <p:cNvSpPr txBox="1">
            <a:spLocks/>
          </p:cNvSpPr>
          <p:nvPr/>
        </p:nvSpPr>
        <p:spPr>
          <a:xfrm>
            <a:off x="317842" y="1896317"/>
            <a:ext cx="5497148" cy="3785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D6C17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/>
              <a:t>- Get comfortable with coding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47696-C4EA-DC7B-9DE1-EE80C0136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581" y="790867"/>
            <a:ext cx="4481404" cy="448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035C-2556-3D4A-2F3B-6A65FDA4A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775" y="2766218"/>
            <a:ext cx="6172449" cy="1325563"/>
          </a:xfrm>
        </p:spPr>
        <p:txBody>
          <a:bodyPr>
            <a:normAutofit fontScale="90000"/>
          </a:bodyPr>
          <a:lstStyle/>
          <a:p>
            <a:r>
              <a:rPr lang="en-GB"/>
              <a:t>Pharma is full of data, but not of data science.</a:t>
            </a:r>
            <a:br>
              <a:rPr lang="en-GB"/>
            </a:br>
            <a:br>
              <a:rPr lang="en-GB"/>
            </a:br>
            <a:r>
              <a:rPr lang="en-GB"/>
              <a:t>We are here to change that</a:t>
            </a:r>
          </a:p>
        </p:txBody>
      </p:sp>
    </p:spTree>
    <p:extLst>
      <p:ext uri="{BB962C8B-B14F-4D97-AF65-F5344CB8AC3E}">
        <p14:creationId xmlns:p14="http://schemas.microsoft.com/office/powerpoint/2010/main" val="2275325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A4E0E-6A83-83B7-B510-E17F5335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9885-690E-E73E-2000-578D008B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59410"/>
            <a:r>
              <a:rPr lang="en-GB"/>
              <a:t>Who is involved in CPDSE?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D5A484-E776-0ACB-E3B9-C27E050F016D}"/>
              </a:ext>
            </a:extLst>
          </p:cNvPr>
          <p:cNvGrpSpPr/>
          <p:nvPr/>
        </p:nvGrpSpPr>
        <p:grpSpPr>
          <a:xfrm>
            <a:off x="254000" y="1394769"/>
            <a:ext cx="6604000" cy="5263206"/>
            <a:chOff x="1247352" y="1249151"/>
            <a:chExt cx="8402730" cy="526320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029D28F-5836-6EF7-CB96-0758EBAE7D89}"/>
                </a:ext>
              </a:extLst>
            </p:cNvPr>
            <p:cNvSpPr/>
            <p:nvPr/>
          </p:nvSpPr>
          <p:spPr>
            <a:xfrm>
              <a:off x="1247352" y="1347548"/>
              <a:ext cx="8402730" cy="516480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GB"/>
            </a:p>
          </p:txBody>
        </p:sp>
        <p:pic>
          <p:nvPicPr>
            <p:cNvPr id="4" name="Picture 3" descr="A black and white sign with white text&#10;&#10;AI-generated content may be incorrect.">
              <a:extLst>
                <a:ext uri="{FF2B5EF4-FFF2-40B4-BE49-F238E27FC236}">
                  <a16:creationId xmlns:a16="http://schemas.microsoft.com/office/drawing/2014/main" id="{55F56B64-A2C6-3591-DF02-A8B5EAD51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3654" y="1345110"/>
              <a:ext cx="3267244" cy="1044000"/>
            </a:xfrm>
            <a:prstGeom prst="rect">
              <a:avLst/>
            </a:prstGeom>
          </p:spPr>
        </p:pic>
        <p:pic>
          <p:nvPicPr>
            <p:cNvPr id="5" name="Picture 4" descr="A white text with a cherry and a leaf on a black background&#10;&#10;AI-generated content may be incorrect.">
              <a:extLst>
                <a:ext uri="{FF2B5EF4-FFF2-40B4-BE49-F238E27FC236}">
                  <a16:creationId xmlns:a16="http://schemas.microsoft.com/office/drawing/2014/main" id="{EE9BE98B-0628-4CE1-F0D5-20ED9F7D9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0383" y="1249151"/>
              <a:ext cx="3824263" cy="1260000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856700A-67C6-8C31-F0A6-0C2DD98C24DD}"/>
                </a:ext>
              </a:extLst>
            </p:cNvPr>
            <p:cNvSpPr/>
            <p:nvPr/>
          </p:nvSpPr>
          <p:spPr>
            <a:xfrm>
              <a:off x="1794802" y="3844806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Drug Design</a:t>
              </a:r>
            </a:p>
            <a:p>
              <a:pPr algn="ctr"/>
              <a:r>
                <a:rPr lang="en-US" sz="1600"/>
                <a:t> and Pharmacology</a:t>
              </a:r>
              <a:endParaRPr lang="en-GB" sz="160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049C2D7-1DDC-E840-E6C9-82DE680E41C4}"/>
                </a:ext>
              </a:extLst>
            </p:cNvPr>
            <p:cNvSpPr/>
            <p:nvPr/>
          </p:nvSpPr>
          <p:spPr>
            <a:xfrm>
              <a:off x="1794802" y="3116425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Pharmacy</a:t>
              </a:r>
              <a:endParaRPr lang="en-GB" sz="160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16535FB-B6F5-599F-63EE-D6E78847F1FD}"/>
                </a:ext>
              </a:extLst>
            </p:cNvPr>
            <p:cNvSpPr/>
            <p:nvPr/>
          </p:nvSpPr>
          <p:spPr>
            <a:xfrm>
              <a:off x="1794802" y="2388045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Computer Science</a:t>
              </a:r>
              <a:endParaRPr lang="en-GB" sz="160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4D4C5B2-D7B5-D823-17FC-73D8EDEC169A}"/>
                </a:ext>
              </a:extLst>
            </p:cNvPr>
            <p:cNvSpPr/>
            <p:nvPr/>
          </p:nvSpPr>
          <p:spPr>
            <a:xfrm>
              <a:off x="1794802" y="4578511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Science Education</a:t>
              </a:r>
              <a:endParaRPr lang="en-GB" sz="160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49307CE-82CB-9ECB-527B-03CA7E3E7B2D}"/>
                </a:ext>
              </a:extLst>
            </p:cNvPr>
            <p:cNvSpPr/>
            <p:nvPr/>
          </p:nvSpPr>
          <p:spPr>
            <a:xfrm>
              <a:off x="5620382" y="2398297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Physics, Chemistry and Pharmacy</a:t>
              </a:r>
              <a:endParaRPr lang="en-GB" sz="160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650EEF6-891A-168A-07B3-2E05D35FB9B6}"/>
                </a:ext>
              </a:extLst>
            </p:cNvPr>
            <p:cNvSpPr/>
            <p:nvPr/>
          </p:nvSpPr>
          <p:spPr>
            <a:xfrm>
              <a:off x="5620382" y="3127534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Public Health</a:t>
              </a:r>
              <a:endParaRPr lang="en-GB" sz="160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FD4FCA6-F8F9-594C-4821-7995D1A4AB3C}"/>
                </a:ext>
              </a:extLst>
            </p:cNvPr>
            <p:cNvSpPr/>
            <p:nvPr/>
          </p:nvSpPr>
          <p:spPr>
            <a:xfrm>
              <a:off x="5620382" y="3856771"/>
              <a:ext cx="3522176" cy="630237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/>
                <a:t>Department of Mathematics and Computer Science</a:t>
              </a:r>
              <a:endParaRPr lang="en-GB" sz="16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50B212D-B62C-67DE-267E-C54D035A1F2D}"/>
                </a:ext>
              </a:extLst>
            </p:cNvPr>
            <p:cNvSpPr/>
            <p:nvPr/>
          </p:nvSpPr>
          <p:spPr>
            <a:xfrm>
              <a:off x="1792662" y="5517435"/>
              <a:ext cx="7349897" cy="62619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cs typeface="Microsoft New Tai Lue"/>
                </a:rPr>
                <a:t>CPDSE is supported by funding from the Novo Nordisk Foundation, the LEO Foundation, and the Lundbeck Foundation</a:t>
              </a:r>
            </a:p>
          </p:txBody>
        </p:sp>
      </p:grpSp>
      <p:pic>
        <p:nvPicPr>
          <p:cNvPr id="13" name="Picture 12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BBEC4DBE-BB67-0B48-B970-473A3F4B82E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096456" y="2446307"/>
            <a:ext cx="4117644" cy="3088233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7532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WHAT ARE THE BEST LANGUAGES TO LEARN FOR DATA SCIENCE? – Data Science  Society">
            <a:extLst>
              <a:ext uri="{FF2B5EF4-FFF2-40B4-BE49-F238E27FC236}">
                <a16:creationId xmlns:a16="http://schemas.microsoft.com/office/drawing/2014/main" id="{B9ECA9E7-52E3-DB18-F4AC-4A5B06AC4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0949" y="2715457"/>
            <a:ext cx="3447338" cy="175940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FFB86B-CE91-598B-6AA9-C18660FEB28D}"/>
              </a:ext>
            </a:extLst>
          </p:cNvPr>
          <p:cNvSpPr/>
          <p:nvPr/>
        </p:nvSpPr>
        <p:spPr>
          <a:xfrm>
            <a:off x="7560731" y="1447800"/>
            <a:ext cx="3787775" cy="4362450"/>
          </a:xfrm>
          <a:prstGeom prst="roundRect">
            <a:avLst>
              <a:gd name="adj" fmla="val 796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2E610-D1B6-95E6-E2C6-77A7A03B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59410"/>
            <a:r>
              <a:rPr lang="en-US">
                <a:cs typeface="Microsoft New Tai Lue"/>
              </a:rPr>
              <a:t>What is a Programming Language?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3EA2A-973E-DA6A-0B92-7C196C257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476374"/>
            <a:ext cx="7058025" cy="45339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>
                <a:solidFill>
                  <a:schemeClr val="tx2"/>
                </a:solidFill>
                <a:cs typeface="Microsoft New Tai Lue"/>
              </a:rPr>
              <a:t>The Big Idea</a:t>
            </a:r>
            <a:endParaRPr lang="en-US" sz="1800">
              <a:solidFill>
                <a:schemeClr val="tx2"/>
              </a:solidFill>
              <a:cs typeface="Microsoft New Tai Lue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>
                <a:cs typeface="Microsoft New Tai Lue"/>
              </a:rPr>
              <a:t>A formal set of instructions a computer can understand and execute.</a:t>
            </a:r>
            <a:br>
              <a:rPr lang="en-US" sz="1800">
                <a:cs typeface="Microsoft New Tai Lue"/>
              </a:rPr>
            </a:br>
            <a:r>
              <a:rPr lang="en-US" sz="1800">
                <a:cs typeface="Microsoft New Tai Lue"/>
                <a:sym typeface="Wingdings" panose="05000000000000000000" pitchFamily="2" charset="2"/>
              </a:rPr>
              <a:t> </a:t>
            </a:r>
            <a:r>
              <a:rPr lang="en-US" sz="1800" b="1">
                <a:cs typeface="Microsoft New Tai Lue"/>
              </a:rPr>
              <a:t>Think of it like a recipe </a:t>
            </a:r>
            <a:r>
              <a:rPr lang="en-US" sz="1800">
                <a:cs typeface="Microsoft New Tai Lue"/>
              </a:rPr>
              <a:t>— you list the ingredients (data) and steps (logic) in precise order.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>
              <a:cs typeface="Microsoft New Tai Lue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>
                <a:cs typeface="Microsoft New Tai Lue"/>
              </a:rPr>
              <a:t>You communicate with the computer through:</a:t>
            </a:r>
          </a:p>
          <a:p>
            <a:pPr>
              <a:lnSpc>
                <a:spcPct val="120000"/>
              </a:lnSpc>
            </a:pPr>
            <a:r>
              <a:rPr lang="en-US" sz="1800" b="1">
                <a:cs typeface="Microsoft New Tai Lue"/>
              </a:rPr>
              <a:t>Scripts </a:t>
            </a:r>
            <a:r>
              <a:rPr lang="en-US" sz="1800">
                <a:cs typeface="Microsoft New Tai Lue"/>
              </a:rPr>
              <a:t>— files of code you write and run</a:t>
            </a:r>
          </a:p>
          <a:p>
            <a:pPr>
              <a:lnSpc>
                <a:spcPct val="120000"/>
              </a:lnSpc>
            </a:pPr>
            <a:r>
              <a:rPr lang="en-US" sz="1800" b="1">
                <a:cs typeface="Microsoft New Tai Lue"/>
              </a:rPr>
              <a:t>Terminal/Console </a:t>
            </a:r>
            <a:r>
              <a:rPr lang="en-US" sz="1800">
                <a:cs typeface="Microsoft New Tai Lue"/>
              </a:rPr>
              <a:t>— a text interface to execute commands</a:t>
            </a:r>
          </a:p>
          <a:p>
            <a:pPr>
              <a:lnSpc>
                <a:spcPct val="120000"/>
              </a:lnSpc>
            </a:pPr>
            <a:r>
              <a:rPr lang="en-US" sz="1800" b="1">
                <a:cs typeface="Microsoft New Tai Lue"/>
              </a:rPr>
              <a:t>IDE</a:t>
            </a:r>
            <a:r>
              <a:rPr lang="en-US" sz="1800">
                <a:cs typeface="Microsoft New Tai Lue"/>
              </a:rPr>
              <a:t> — Integrated Development Environment; your coding workspace (e.g. RStudio, VS Code)</a:t>
            </a:r>
          </a:p>
          <a:p>
            <a:endParaRPr lang="en-US" sz="1800">
              <a:cs typeface="Microsoft New Tai Lue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DB130AC1-E4D4-C659-161A-379B7033B142}"/>
              </a:ext>
            </a:extLst>
          </p:cNvPr>
          <p:cNvSpPr txBox="1">
            <a:spLocks/>
          </p:cNvSpPr>
          <p:nvPr/>
        </p:nvSpPr>
        <p:spPr>
          <a:xfrm>
            <a:off x="7604125" y="1575859"/>
            <a:ext cx="3787775" cy="41581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solidFill>
                  <a:schemeClr val="tx2"/>
                </a:solidFill>
                <a:cs typeface="Microsoft New Tai Lue"/>
              </a:rPr>
              <a:t>Why do we need coding?</a:t>
            </a:r>
            <a:endParaRPr lang="en-US" sz="1800">
              <a:solidFill>
                <a:schemeClr val="tx2"/>
              </a:solidFill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cs typeface="Microsoft New Tai Lue"/>
              </a:rPr>
              <a:t>⚡ Automation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>
                <a:cs typeface="Microsoft New Tai Lue"/>
              </a:rPr>
              <a:t>Repeat tasks in seconds, not hours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cs typeface="Microsoft New Tai Lue"/>
              </a:rPr>
              <a:t>🔁 Iteration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>
                <a:cs typeface="Microsoft New Tai Lue"/>
              </a:rPr>
              <a:t>Loop over thousands of data points </a:t>
            </a:r>
            <a:endParaRPr lang="en-US" sz="1800" b="1">
              <a:latin typeface="Microsoft New Tai Lue"/>
              <a:ea typeface="Calibri"/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latin typeface="Microsoft New Tai Lue"/>
                <a:ea typeface="Calibri"/>
                <a:cs typeface="Microsoft New Tai Lue"/>
              </a:rPr>
              <a:t>📋 Reproducibility</a:t>
            </a:r>
            <a:endParaRPr lang="en-US" sz="1800" b="1"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>
                <a:cs typeface="Microsoft New Tai Lue"/>
              </a:rPr>
              <a:t>Share &amp; re-run your exact analysis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cs typeface="Microsoft New Tai Lue"/>
              </a:rPr>
              <a:t>👨‍💻 Customizability</a:t>
            </a:r>
            <a:endParaRPr lang="en-US" sz="1800" b="1">
              <a:solidFill>
                <a:srgbClr val="000000"/>
              </a:solidFill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>
                <a:cs typeface="Microsoft New Tai Lue"/>
              </a:rPr>
              <a:t>Build exactly what you need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 b="1">
                <a:cs typeface="Microsoft New Tai Lue"/>
              </a:rPr>
              <a:t>📈 Scalability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1800">
                <a:cs typeface="Microsoft New Tai Lue"/>
              </a:rPr>
              <a:t>Works on 10 rows or 10 million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lang="en-US" sz="1800"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lang="en-US" sz="1800"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lang="en-US" sz="1800">
              <a:cs typeface="Microsoft New Tai Lue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endParaRPr lang="en-US" sz="1800">
              <a:cs typeface="Microsoft New Tai Lue"/>
            </a:endParaRPr>
          </a:p>
          <a:p>
            <a:pPr indent="0">
              <a:lnSpc>
                <a:spcPct val="100000"/>
              </a:lnSpc>
              <a:spcBef>
                <a:spcPts val="800"/>
              </a:spcBef>
            </a:pPr>
            <a:endParaRPr lang="en-US" sz="1800">
              <a:cs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54224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uiExpand="1" build="p"/>
      <p:bldP spid="9" grpId="0" uiExpand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2C6B-9451-D42A-4A1E-110C32129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What</a:t>
            </a:r>
            <a:r>
              <a:rPr lang="da-DK"/>
              <a:t> is Data Science?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AE0FB0-A7A2-ABD7-F362-FBB80A57C7EA}"/>
              </a:ext>
            </a:extLst>
          </p:cNvPr>
          <p:cNvGrpSpPr/>
          <p:nvPr/>
        </p:nvGrpSpPr>
        <p:grpSpPr>
          <a:xfrm>
            <a:off x="3512313" y="1530915"/>
            <a:ext cx="3007360" cy="3007360"/>
            <a:chOff x="4592320" y="1754696"/>
            <a:chExt cx="3007360" cy="300736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4AB358-D1E4-CE83-1FB4-B0C8752AB355}"/>
                </a:ext>
              </a:extLst>
            </p:cNvPr>
            <p:cNvSpPr/>
            <p:nvPr/>
          </p:nvSpPr>
          <p:spPr>
            <a:xfrm>
              <a:off x="4592320" y="1754696"/>
              <a:ext cx="3007360" cy="3007360"/>
            </a:xfrm>
            <a:prstGeom prst="ellipse">
              <a:avLst/>
            </a:prstGeom>
            <a:noFill/>
            <a:ln w="762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3717DC-09C6-A844-4164-B5C863A6AE22}"/>
                </a:ext>
              </a:extLst>
            </p:cNvPr>
            <p:cNvSpPr txBox="1"/>
            <p:nvPr/>
          </p:nvSpPr>
          <p:spPr>
            <a:xfrm>
              <a:off x="4966025" y="2872625"/>
              <a:ext cx="139974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b="1"/>
                <a:t>Domain</a:t>
              </a:r>
            </a:p>
            <a:p>
              <a:pPr algn="ctr"/>
              <a:r>
                <a:rPr lang="da-DK" b="1"/>
                <a:t>Knowledge</a:t>
              </a:r>
            </a:p>
            <a:p>
              <a:pPr algn="ctr"/>
              <a:r>
                <a:rPr lang="da-DK" b="1"/>
                <a:t>(</a:t>
              </a:r>
              <a:r>
                <a:rPr lang="da-DK" b="1" err="1"/>
                <a:t>Farma</a:t>
              </a:r>
              <a:r>
                <a:rPr lang="da-DK" b="1"/>
                <a:t>)</a:t>
              </a:r>
            </a:p>
          </p:txBody>
        </p:sp>
        <p:pic>
          <p:nvPicPr>
            <p:cNvPr id="13" name="Graphic 12" descr="Medicine outline">
              <a:extLst>
                <a:ext uri="{FF2B5EF4-FFF2-40B4-BE49-F238E27FC236}">
                  <a16:creationId xmlns:a16="http://schemas.microsoft.com/office/drawing/2014/main" id="{AA504F9E-EED2-F6F8-8941-865349570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6900" y="2282981"/>
              <a:ext cx="697992" cy="69799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C03DAC-E087-06A9-CB90-8861C2E0D765}"/>
              </a:ext>
            </a:extLst>
          </p:cNvPr>
          <p:cNvGrpSpPr/>
          <p:nvPr/>
        </p:nvGrpSpPr>
        <p:grpSpPr>
          <a:xfrm>
            <a:off x="5546504" y="1529963"/>
            <a:ext cx="3007360" cy="3007360"/>
            <a:chOff x="5539230" y="3493008"/>
            <a:chExt cx="3007360" cy="300736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393F286-ABD0-F429-E375-2719A08B527E}"/>
                </a:ext>
              </a:extLst>
            </p:cNvPr>
            <p:cNvSpPr/>
            <p:nvPr/>
          </p:nvSpPr>
          <p:spPr>
            <a:xfrm>
              <a:off x="5539230" y="3493008"/>
              <a:ext cx="3007360" cy="3007360"/>
            </a:xfrm>
            <a:prstGeom prst="ellipse">
              <a:avLst/>
            </a:prstGeom>
            <a:noFill/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DBEC6A-685A-E1B7-8479-9E18909B5525}"/>
                </a:ext>
              </a:extLst>
            </p:cNvPr>
            <p:cNvSpPr txBox="1"/>
            <p:nvPr/>
          </p:nvSpPr>
          <p:spPr>
            <a:xfrm>
              <a:off x="6567108" y="4764002"/>
              <a:ext cx="1686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b="1">
                  <a:solidFill>
                    <a:schemeClr val="accent3">
                      <a:lumMod val="75000"/>
                    </a:schemeClr>
                  </a:solidFill>
                </a:rPr>
                <a:t>Programming</a:t>
              </a:r>
            </a:p>
          </p:txBody>
        </p:sp>
        <p:pic>
          <p:nvPicPr>
            <p:cNvPr id="15" name="Graphic 14" descr="Laptop outline">
              <a:extLst>
                <a:ext uri="{FF2B5EF4-FFF2-40B4-BE49-F238E27FC236}">
                  <a16:creationId xmlns:a16="http://schemas.microsoft.com/office/drawing/2014/main" id="{5FE83BAE-20B3-33D3-4D71-A6ED45943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57591" y="4058930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09F4A0-2988-A2ED-2613-B55D9B46EF4D}"/>
              </a:ext>
            </a:extLst>
          </p:cNvPr>
          <p:cNvGrpSpPr/>
          <p:nvPr/>
        </p:nvGrpSpPr>
        <p:grpSpPr>
          <a:xfrm>
            <a:off x="4527540" y="3285908"/>
            <a:ext cx="3007360" cy="3007360"/>
            <a:chOff x="3645410" y="3429000"/>
            <a:chExt cx="3007360" cy="300736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206FE3-E575-42E1-5EA5-FE590A7B0BE2}"/>
                </a:ext>
              </a:extLst>
            </p:cNvPr>
            <p:cNvSpPr/>
            <p:nvPr/>
          </p:nvSpPr>
          <p:spPr>
            <a:xfrm>
              <a:off x="3645410" y="3429000"/>
              <a:ext cx="3007360" cy="3007360"/>
            </a:xfrm>
            <a:prstGeom prst="ellipse">
              <a:avLst/>
            </a:prstGeom>
            <a:noFill/>
            <a:ln w="762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44927A-25F8-E090-958D-F4F4FB216E17}"/>
                </a:ext>
              </a:extLst>
            </p:cNvPr>
            <p:cNvSpPr txBox="1"/>
            <p:nvPr/>
          </p:nvSpPr>
          <p:spPr>
            <a:xfrm>
              <a:off x="4572031" y="5486529"/>
              <a:ext cx="11705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b="1">
                  <a:solidFill>
                    <a:schemeClr val="bg2">
                      <a:lumMod val="75000"/>
                    </a:schemeClr>
                  </a:solidFill>
                </a:rPr>
                <a:t>Math &amp;</a:t>
              </a:r>
            </a:p>
            <a:p>
              <a:pPr algn="ctr"/>
              <a:r>
                <a:rPr lang="da-DK" b="1">
                  <a:solidFill>
                    <a:schemeClr val="bg2">
                      <a:lumMod val="75000"/>
                    </a:schemeClr>
                  </a:solidFill>
                </a:rPr>
                <a:t>Statistisk</a:t>
              </a:r>
            </a:p>
          </p:txBody>
        </p:sp>
        <p:pic>
          <p:nvPicPr>
            <p:cNvPr id="17" name="Graphic 16" descr="Mathematics outline">
              <a:extLst>
                <a:ext uri="{FF2B5EF4-FFF2-40B4-BE49-F238E27FC236}">
                  <a16:creationId xmlns:a16="http://schemas.microsoft.com/office/drawing/2014/main" id="{6B9FFE53-8AFE-9034-47B9-4B58897BB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00087" y="4657441"/>
              <a:ext cx="914400" cy="914400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1E9EE48-0898-75DA-712A-AB37F5949363}"/>
              </a:ext>
            </a:extLst>
          </p:cNvPr>
          <p:cNvSpPr txBox="1"/>
          <p:nvPr/>
        </p:nvSpPr>
        <p:spPr>
          <a:xfrm>
            <a:off x="5537411" y="2682273"/>
            <a:ext cx="8867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1400">
                <a:solidFill>
                  <a:schemeClr val="accent4"/>
                </a:solidFill>
              </a:rPr>
              <a:t>Analytics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AA2154-DC33-4BDB-8460-C1F4E896768C}"/>
              </a:ext>
            </a:extLst>
          </p:cNvPr>
          <p:cNvSpPr txBox="1"/>
          <p:nvPr/>
        </p:nvSpPr>
        <p:spPr>
          <a:xfrm>
            <a:off x="5650949" y="3301481"/>
            <a:ext cx="7665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1300" b="1">
                <a:solidFill>
                  <a:schemeClr val="accent4"/>
                </a:solidFill>
              </a:rPr>
              <a:t>Data </a:t>
            </a:r>
          </a:p>
          <a:p>
            <a:pPr algn="ctr"/>
            <a:r>
              <a:rPr lang="da-DK" sz="1300" b="1">
                <a:solidFill>
                  <a:schemeClr val="accent4"/>
                </a:solidFill>
              </a:rPr>
              <a:t>Science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370FB3-8AC1-90E4-C76B-2E1A81BBA0F0}"/>
              </a:ext>
            </a:extLst>
          </p:cNvPr>
          <p:cNvSpPr txBox="1"/>
          <p:nvPr/>
        </p:nvSpPr>
        <p:spPr>
          <a:xfrm>
            <a:off x="4856463" y="3901461"/>
            <a:ext cx="8963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1400">
                <a:solidFill>
                  <a:schemeClr val="accent4"/>
                </a:solidFill>
              </a:rPr>
              <a:t>Research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DB3B7D-13F8-5DD5-D562-7BCD1FF9FD7A}"/>
              </a:ext>
            </a:extLst>
          </p:cNvPr>
          <p:cNvSpPr txBox="1"/>
          <p:nvPr/>
        </p:nvSpPr>
        <p:spPr>
          <a:xfrm>
            <a:off x="6240404" y="3900128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sz="1400" err="1">
                <a:solidFill>
                  <a:schemeClr val="accent4"/>
                </a:solidFill>
              </a:rPr>
              <a:t>Algorithms</a:t>
            </a:r>
            <a:endParaRPr lang="da-DK" sz="1400">
              <a:solidFill>
                <a:schemeClr val="accent4"/>
              </a:solidFill>
            </a:endParaRPr>
          </a:p>
        </p:txBody>
      </p:sp>
      <p:pic>
        <p:nvPicPr>
          <p:cNvPr id="36" name="Graphic 35" descr="Line arrow: Clockwise curve outline">
            <a:extLst>
              <a:ext uri="{FF2B5EF4-FFF2-40B4-BE49-F238E27FC236}">
                <a16:creationId xmlns:a16="http://schemas.microsoft.com/office/drawing/2014/main" id="{52B89BFD-73ED-FB4C-590E-C7AD2DC6E0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V="1">
            <a:off x="5138826" y="19214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6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6E15-9112-24C1-8763-AF2546CC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Why</a:t>
            </a:r>
            <a:r>
              <a:rPr lang="da-DK"/>
              <a:t> </a:t>
            </a:r>
            <a:r>
              <a:rPr lang="da-DK" err="1"/>
              <a:t>Coding</a:t>
            </a:r>
            <a:r>
              <a:rPr lang="da-DK"/>
              <a:t> in Pharma?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A8AE3-98A8-ECCE-4115-EEDF86391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64" y="1573274"/>
            <a:ext cx="5219536" cy="44997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>
                <a:solidFill>
                  <a:schemeClr val="tx2"/>
                </a:solidFill>
                <a:cs typeface="Microsoft New Tai Lue"/>
              </a:rPr>
              <a:t>Applications in Pharma Industry</a:t>
            </a:r>
          </a:p>
          <a:p>
            <a:pPr marL="0" indent="0">
              <a:buNone/>
            </a:pPr>
            <a:r>
              <a:rPr lang="en-US" sz="2000" b="1">
                <a:cs typeface="Microsoft New Tai Lue"/>
              </a:rPr>
              <a:t>✨ Drug Discovery</a:t>
            </a:r>
          </a:p>
          <a:p>
            <a:r>
              <a:rPr lang="en-US" sz="1600">
                <a:cs typeface="Microsoft New Tai Lue"/>
              </a:rPr>
              <a:t>ML models predicting compound efficacy</a:t>
            </a:r>
          </a:p>
          <a:p>
            <a:pPr marL="0" indent="0">
              <a:buNone/>
            </a:pPr>
            <a:r>
              <a:rPr lang="en-US" sz="2000" b="1">
                <a:cs typeface="Microsoft New Tai Lue"/>
              </a:rPr>
              <a:t>📉 Pharmacokinetics</a:t>
            </a:r>
          </a:p>
          <a:p>
            <a:pPr>
              <a:buFont typeface="Arial"/>
              <a:buChar char="•"/>
            </a:pPr>
            <a:r>
              <a:rPr lang="en-US" sz="1600">
                <a:cs typeface="Microsoft New Tai Lue"/>
              </a:rPr>
              <a:t>Modelling drug absorption, distribution, clearance</a:t>
            </a:r>
            <a:endParaRPr lang="en-US" sz="1600">
              <a:solidFill>
                <a:srgbClr val="A9BBAA"/>
              </a:solidFill>
              <a:cs typeface="Microsoft New Tai Lue"/>
            </a:endParaRPr>
          </a:p>
          <a:p>
            <a:pPr marL="0" indent="0">
              <a:buNone/>
            </a:pPr>
            <a:r>
              <a:rPr lang="en-US" sz="2000" b="1">
                <a:cs typeface="Microsoft New Tai Lue"/>
              </a:rPr>
              <a:t>🧬 Bioinformatics</a:t>
            </a:r>
            <a:endParaRPr lang="en-US" sz="2000">
              <a:solidFill>
                <a:srgbClr val="A9BBAA"/>
              </a:solidFill>
              <a:cs typeface="Microsoft New Tai Lue"/>
            </a:endParaRPr>
          </a:p>
          <a:p>
            <a:pPr>
              <a:buFont typeface="Arial,Sans-Serif"/>
              <a:buChar char="•"/>
            </a:pPr>
            <a:r>
              <a:rPr lang="en-US" sz="1600">
                <a:cs typeface="Microsoft New Tai Lue"/>
              </a:rPr>
              <a:t>Genomic data, gene polymorphism (pharmacogenomics)</a:t>
            </a:r>
            <a:endParaRPr lang="en-US" sz="2000">
              <a:cs typeface="Microsoft New Tai Lue"/>
            </a:endParaRPr>
          </a:p>
          <a:p>
            <a:pPr marL="0" indent="0">
              <a:buNone/>
            </a:pPr>
            <a:r>
              <a:rPr lang="en-US" sz="2000" b="1">
                <a:cs typeface="Microsoft New Tai Lue"/>
              </a:rPr>
              <a:t>🏥 Clinical Trials</a:t>
            </a:r>
          </a:p>
          <a:p>
            <a:pPr>
              <a:buFont typeface="Arial,Sans-Serif"/>
              <a:buChar char="•"/>
            </a:pPr>
            <a:r>
              <a:rPr lang="en-US" sz="1600">
                <a:cs typeface="Microsoft New Tai Lue"/>
              </a:rPr>
              <a:t>Statistical analysis, patient subgroup comparisons</a:t>
            </a:r>
            <a:endParaRPr lang="en-US" sz="2000">
              <a:cs typeface="Microsoft New Tai Lue"/>
            </a:endParaRPr>
          </a:p>
          <a:p>
            <a:pPr marL="0" indent="0">
              <a:buNone/>
            </a:pPr>
            <a:r>
              <a:rPr lang="en-US" sz="2000" b="1">
                <a:cs typeface="Microsoft New Tai Lue"/>
              </a:rPr>
              <a:t>📄 Real-world Data</a:t>
            </a:r>
            <a:endParaRPr lang="en-US" sz="2400"/>
          </a:p>
          <a:p>
            <a:pPr>
              <a:buFont typeface="Arial,Sans-Serif"/>
              <a:buChar char="•"/>
            </a:pPr>
            <a:r>
              <a:rPr lang="en-US" sz="1600" err="1">
                <a:cs typeface="Microsoft New Tai Lue"/>
              </a:rPr>
              <a:t>Analysing</a:t>
            </a:r>
            <a:r>
              <a:rPr lang="en-US" sz="1600">
                <a:cs typeface="Microsoft New Tai Lue"/>
              </a:rPr>
              <a:t> Electronic Health Registry Data, pharmacovigilance</a:t>
            </a:r>
            <a:endParaRPr lang="en-US" sz="2000">
              <a:cs typeface="Microsoft New Tai Lue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C3E8F06-2200-DE47-D998-9EEC8F447D05}"/>
              </a:ext>
            </a:extLst>
          </p:cNvPr>
          <p:cNvGrpSpPr/>
          <p:nvPr/>
        </p:nvGrpSpPr>
        <p:grpSpPr>
          <a:xfrm>
            <a:off x="5590881" y="1448438"/>
            <a:ext cx="4640662" cy="1978368"/>
            <a:chOff x="7118178" y="953634"/>
            <a:chExt cx="4640662" cy="1978368"/>
          </a:xfrm>
        </p:grpSpPr>
        <p:pic>
          <p:nvPicPr>
            <p:cNvPr id="4" name="Picture 3" descr="Pharmacokinetic Modeling: going from compartments to equations to  simulations and parameter identification quickly and easily">
              <a:extLst>
                <a:ext uri="{FF2B5EF4-FFF2-40B4-BE49-F238E27FC236}">
                  <a16:creationId xmlns:a16="http://schemas.microsoft.com/office/drawing/2014/main" id="{1123BBAE-110B-E484-8265-4C6C5E17E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7875" y="953634"/>
              <a:ext cx="4630965" cy="1975304"/>
            </a:xfrm>
            <a:prstGeom prst="rect">
              <a:avLst/>
            </a:prstGeom>
            <a:ln w="28575">
              <a:noFill/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72C3A2-6C3E-BC68-1296-310E6CC874D1}"/>
                </a:ext>
              </a:extLst>
            </p:cNvPr>
            <p:cNvSpPr/>
            <p:nvPr/>
          </p:nvSpPr>
          <p:spPr>
            <a:xfrm>
              <a:off x="7118178" y="2227876"/>
              <a:ext cx="1281107" cy="7041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FF489E0-489C-9C34-E474-A6EA743256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" r="-949" b="7725"/>
          <a:stretch>
            <a:fillRect/>
          </a:stretch>
        </p:blipFill>
        <p:spPr>
          <a:xfrm>
            <a:off x="5999718" y="3823134"/>
            <a:ext cx="5222060" cy="2120876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52391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A558-70DE-6DF9-69AB-80D67C1D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What</a:t>
            </a:r>
            <a:r>
              <a:rPr lang="da-DK"/>
              <a:t> is an 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96F9-A944-654C-09D3-E377184B5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373"/>
          </a:xfrm>
        </p:spPr>
        <p:txBody>
          <a:bodyPr/>
          <a:lstStyle/>
          <a:p>
            <a:pPr marL="0" indent="0">
              <a:buNone/>
            </a:pPr>
            <a:r>
              <a:rPr lang="da-DK"/>
              <a:t>A </a:t>
            </a:r>
            <a:r>
              <a:rPr lang="da-DK" err="1"/>
              <a:t>tool</a:t>
            </a:r>
            <a:r>
              <a:rPr lang="da-DK"/>
              <a:t> </a:t>
            </a:r>
            <a:r>
              <a:rPr lang="da-DK" err="1"/>
              <a:t>that</a:t>
            </a:r>
            <a:r>
              <a:rPr lang="da-DK"/>
              <a:t> </a:t>
            </a:r>
            <a:r>
              <a:rPr lang="da-DK" err="1"/>
              <a:t>makes</a:t>
            </a:r>
            <a:r>
              <a:rPr lang="da-DK"/>
              <a:t> </a:t>
            </a:r>
            <a:r>
              <a:rPr lang="da-DK" err="1"/>
              <a:t>working</a:t>
            </a:r>
            <a:r>
              <a:rPr lang="da-DK"/>
              <a:t> with </a:t>
            </a:r>
            <a:r>
              <a:rPr lang="da-DK" err="1"/>
              <a:t>code</a:t>
            </a:r>
            <a:r>
              <a:rPr lang="da-DK"/>
              <a:t> </a:t>
            </a:r>
            <a:r>
              <a:rPr lang="da-DK" err="1"/>
              <a:t>much</a:t>
            </a:r>
            <a:r>
              <a:rPr lang="da-DK"/>
              <a:t> </a:t>
            </a:r>
            <a:r>
              <a:rPr lang="da-DK" err="1"/>
              <a:t>easier</a:t>
            </a:r>
            <a:r>
              <a:rPr lang="da-DK"/>
              <a:t>! </a:t>
            </a:r>
            <a:r>
              <a:rPr lang="da-DK">
                <a:solidFill>
                  <a:schemeClr val="tx1"/>
                </a:solidFill>
              </a:rPr>
              <a:t>(</a:t>
            </a:r>
            <a:r>
              <a:rPr lang="da-DK" err="1">
                <a:solidFill>
                  <a:schemeClr val="tx1"/>
                </a:solidFill>
              </a:rPr>
              <a:t>e.g</a:t>
            </a:r>
            <a:r>
              <a:rPr lang="da-DK">
                <a:solidFill>
                  <a:schemeClr val="tx1"/>
                </a:solidFill>
              </a:rPr>
              <a:t>., </a:t>
            </a:r>
            <a:r>
              <a:rPr lang="da-DK" err="1">
                <a:solidFill>
                  <a:schemeClr val="tx1"/>
                </a:solidFill>
              </a:rPr>
              <a:t>RStudio</a:t>
            </a:r>
            <a:r>
              <a:rPr lang="da-DK">
                <a:solidFill>
                  <a:schemeClr val="tx1"/>
                </a:solidFill>
              </a:rPr>
              <a:t>)</a:t>
            </a:r>
          </a:p>
          <a:p>
            <a:endParaRPr lang="da-D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B61FA0-F111-E1E0-056D-BEFB1170B1F0}"/>
              </a:ext>
            </a:extLst>
          </p:cNvPr>
          <p:cNvSpPr/>
          <p:nvPr/>
        </p:nvSpPr>
        <p:spPr>
          <a:xfrm>
            <a:off x="5577840" y="2530998"/>
            <a:ext cx="5513832" cy="162952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da-DK" sz="1600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concentration</a:t>
            </a:r>
            <a:r>
              <a:rPr lang="da-DK" sz="1600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= </a:t>
            </a:r>
            <a:r>
              <a:rPr lang="da-DK" sz="1600" err="1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/ </a:t>
            </a:r>
            <a:r>
              <a:rPr lang="da-DK" sz="1600" err="1">
                <a:solidFill>
                  <a:schemeClr val="bg1">
                    <a:lumMod val="1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endParaRPr lang="da-DK" sz="1600">
              <a:solidFill>
                <a:schemeClr val="bg1">
                  <a:lumMod val="10000"/>
                </a:schemeClr>
              </a:solidFill>
              <a:latin typeface="Gungsuh" panose="020B0503020000020004" pitchFamily="18" charset="-127"/>
              <a:ea typeface="Gungsuh" panose="020B0503020000020004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calculate_concentration</a:t>
            </a:r>
            <a:r>
              <a:rPr lang="en-US" sz="1600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&lt;- function(</a:t>
            </a:r>
            <a:r>
              <a:rPr lang="en-US" sz="1600" err="1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m,v</a:t>
            </a:r>
            <a:r>
              <a:rPr lang="en-US" sz="1600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return(m/v)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>
                    <a:lumMod val="1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}</a:t>
            </a:r>
            <a:endParaRPr lang="da-DK" sz="1600">
              <a:solidFill>
                <a:schemeClr val="bg1">
                  <a:lumMod val="10000"/>
                </a:schemeClr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08EAFE-5356-8D89-AEFA-F5C8B326CB55}"/>
              </a:ext>
            </a:extLst>
          </p:cNvPr>
          <p:cNvSpPr/>
          <p:nvPr/>
        </p:nvSpPr>
        <p:spPr>
          <a:xfrm>
            <a:off x="5577840" y="4353980"/>
            <a:ext cx="5513832" cy="162952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concentration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=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/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endParaRPr lang="da-DK" sz="1600">
              <a:solidFill>
                <a:schemeClr val="tx2">
                  <a:lumMod val="60000"/>
                  <a:lumOff val="40000"/>
                </a:schemeClr>
              </a:solidFill>
              <a:latin typeface="Gungsuh" panose="020B0503020000020004" pitchFamily="18" charset="-127"/>
              <a:ea typeface="Gungsuh" panose="020B0503020000020004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calculate_concentration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&lt;- </a:t>
            </a:r>
            <a:r>
              <a:rPr lang="en-US" sz="1600">
                <a:solidFill>
                  <a:srgbClr val="00B0F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function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</a:t>
            </a:r>
            <a:r>
              <a:rPr lang="en-US" sz="16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m,v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</a:t>
            </a:r>
            <a:r>
              <a:rPr lang="en-US" sz="1600">
                <a:solidFill>
                  <a:srgbClr val="00B0F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return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(m/v)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}</a:t>
            </a:r>
            <a:endParaRPr lang="da-DK" sz="1600">
              <a:solidFill>
                <a:srgbClr val="333333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pic>
        <p:nvPicPr>
          <p:cNvPr id="36" name="Graphic 35" descr="Line arrow: Clockwise curve outline">
            <a:extLst>
              <a:ext uri="{FF2B5EF4-FFF2-40B4-BE49-F238E27FC236}">
                <a16:creationId xmlns:a16="http://schemas.microsoft.com/office/drawing/2014/main" id="{52B89BFD-73ED-FB4C-590E-C7AD2DC6E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761786" flipV="1">
            <a:off x="4549423" y="3349939"/>
            <a:ext cx="1398753" cy="139875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93FB72-61DF-D687-C226-98B555CEEF64}"/>
              </a:ext>
            </a:extLst>
          </p:cNvPr>
          <p:cNvSpPr txBox="1">
            <a:spLocks/>
          </p:cNvSpPr>
          <p:nvPr/>
        </p:nvSpPr>
        <p:spPr>
          <a:xfrm>
            <a:off x="838200" y="2724459"/>
            <a:ext cx="10515600" cy="960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err="1"/>
              <a:t>Syntax</a:t>
            </a:r>
            <a:r>
              <a:rPr lang="da-DK"/>
              <a:t> </a:t>
            </a:r>
            <a:r>
              <a:rPr lang="da-DK" err="1"/>
              <a:t>highlighting</a:t>
            </a:r>
            <a:endParaRPr lang="da-DK"/>
          </a:p>
          <a:p>
            <a:endParaRPr lang="da-DK"/>
          </a:p>
          <a:p>
            <a:endParaRPr lang="da-DK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97D5C3-CF88-4101-01D6-CF1A21A87042}"/>
              </a:ext>
            </a:extLst>
          </p:cNvPr>
          <p:cNvSpPr txBox="1">
            <a:spLocks/>
          </p:cNvSpPr>
          <p:nvPr/>
        </p:nvSpPr>
        <p:spPr>
          <a:xfrm>
            <a:off x="838200" y="3539219"/>
            <a:ext cx="10515600" cy="814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Data Viewer</a:t>
            </a:r>
          </a:p>
          <a:p>
            <a:endParaRPr lang="da-DK"/>
          </a:p>
          <a:p>
            <a:endParaRPr lang="da-D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88918A-9808-29BF-C484-2F899A26CEA0}"/>
              </a:ext>
            </a:extLst>
          </p:cNvPr>
          <p:cNvSpPr/>
          <p:nvPr/>
        </p:nvSpPr>
        <p:spPr>
          <a:xfrm>
            <a:off x="4965192" y="2386584"/>
            <a:ext cx="6309360" cy="3695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2052" name="Picture 4" descr="Introduction to Data Analysis with R - 2 Using RStudio">
            <a:extLst>
              <a:ext uri="{FF2B5EF4-FFF2-40B4-BE49-F238E27FC236}">
                <a16:creationId xmlns:a16="http://schemas.microsoft.com/office/drawing/2014/main" id="{33211693-A2AA-50AC-6472-CB301995D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22766"/>
            <a:ext cx="3958590" cy="322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C577A9-AD6F-E8FB-B99B-89C7F82FF16C}"/>
              </a:ext>
            </a:extLst>
          </p:cNvPr>
          <p:cNvSpPr/>
          <p:nvPr/>
        </p:nvSpPr>
        <p:spPr>
          <a:xfrm>
            <a:off x="5117592" y="2538984"/>
            <a:ext cx="6309360" cy="3695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2054" name="Picture 6" descr="Debugging - free icon">
            <a:extLst>
              <a:ext uri="{FF2B5EF4-FFF2-40B4-BE49-F238E27FC236}">
                <a16:creationId xmlns:a16="http://schemas.microsoft.com/office/drawing/2014/main" id="{4A2A07C9-2B82-2088-08B7-7E0BCDBF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254" y="2711872"/>
            <a:ext cx="3221736" cy="3221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65461B1-4467-B654-89F0-FE67C12E8611}"/>
              </a:ext>
            </a:extLst>
          </p:cNvPr>
          <p:cNvSpPr txBox="1">
            <a:spLocks/>
          </p:cNvSpPr>
          <p:nvPr/>
        </p:nvSpPr>
        <p:spPr>
          <a:xfrm>
            <a:off x="838200" y="4350653"/>
            <a:ext cx="10515600" cy="1629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Debugging</a:t>
            </a:r>
          </a:p>
          <a:p>
            <a:pPr marL="0" indent="0">
              <a:buNone/>
            </a:pPr>
            <a:r>
              <a:rPr lang="da-DK">
                <a:solidFill>
                  <a:schemeClr val="tx1"/>
                </a:solidFill>
              </a:rPr>
              <a:t>(</a:t>
            </a:r>
            <a:r>
              <a:rPr lang="da-DK" err="1">
                <a:solidFill>
                  <a:schemeClr val="tx1"/>
                </a:solidFill>
              </a:rPr>
              <a:t>Eliminating</a:t>
            </a:r>
            <a:r>
              <a:rPr lang="da-DK">
                <a:solidFill>
                  <a:schemeClr val="tx1"/>
                </a:solidFill>
              </a:rPr>
              <a:t> </a:t>
            </a:r>
            <a:r>
              <a:rPr lang="da-DK" err="1">
                <a:solidFill>
                  <a:schemeClr val="tx1"/>
                </a:solidFill>
              </a:rPr>
              <a:t>Errors</a:t>
            </a:r>
            <a:r>
              <a:rPr lang="da-DK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4F64D77-A125-286F-0B53-82115EC3541F}"/>
              </a:ext>
            </a:extLst>
          </p:cNvPr>
          <p:cNvSpPr txBox="1">
            <a:spLocks/>
          </p:cNvSpPr>
          <p:nvPr/>
        </p:nvSpPr>
        <p:spPr>
          <a:xfrm>
            <a:off x="838200" y="5637168"/>
            <a:ext cx="10515600" cy="541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And </a:t>
            </a:r>
            <a:r>
              <a:rPr lang="da-DK" err="1"/>
              <a:t>much</a:t>
            </a:r>
            <a:r>
              <a:rPr lang="da-DK"/>
              <a:t> more …</a:t>
            </a:r>
          </a:p>
        </p:txBody>
      </p:sp>
    </p:spTree>
    <p:extLst>
      <p:ext uri="{BB962C8B-B14F-4D97-AF65-F5344CB8AC3E}">
        <p14:creationId xmlns:p14="http://schemas.microsoft.com/office/powerpoint/2010/main" val="365899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9" grpId="0" animBg="1"/>
      <p:bldP spid="10" grpId="0" animBg="1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A789-4920-6297-C36F-8F1EE23B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Variables &amp; </a:t>
            </a:r>
            <a:r>
              <a:rPr lang="da-DK" err="1"/>
              <a:t>Functions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6931-27E5-DB0D-72CE-C3FE9447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>
                <a:cs typeface="Microsoft New Tai Lue"/>
              </a:rPr>
              <a:t>Variables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Microsoft New Tai Lue"/>
              </a:rPr>
              <a:t>Stores </a:t>
            </a:r>
            <a:r>
              <a:rPr lang="da-DK" err="1">
                <a:cs typeface="Microsoft New Tai Lue"/>
              </a:rPr>
              <a:t>values</a:t>
            </a:r>
            <a:r>
              <a:rPr lang="da-DK">
                <a:cs typeface="Microsoft New Tai Lue"/>
              </a:rPr>
              <a:t>/data</a:t>
            </a:r>
          </a:p>
          <a:p>
            <a:endParaRPr lang="da-DK">
              <a:cs typeface="Microsoft New Tai Lue"/>
            </a:endParaRPr>
          </a:p>
          <a:p>
            <a:r>
              <a:rPr lang="da-DK" err="1">
                <a:cs typeface="Microsoft New Tai Lue"/>
              </a:rPr>
              <a:t>Functions</a:t>
            </a:r>
            <a:endParaRPr lang="da-DK">
              <a:cs typeface="Microsoft New Tai Lue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da-DK">
                <a:cs typeface="Microsoft New Tai Lue"/>
              </a:rPr>
              <a:t>Performs a </a:t>
            </a:r>
            <a:r>
              <a:rPr lang="da-DK" err="1">
                <a:cs typeface="Microsoft New Tai Lue"/>
              </a:rPr>
              <a:t>specific</a:t>
            </a:r>
            <a:r>
              <a:rPr lang="da-DK">
                <a:cs typeface="Microsoft New Tai Lue"/>
              </a:rPr>
              <a:t> task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a-DK" err="1">
                <a:cs typeface="Microsoft New Tai Lue"/>
              </a:rPr>
              <a:t>Reusable</a:t>
            </a:r>
            <a:endParaRPr lang="da-DK">
              <a:cs typeface="Microsoft New Tai Lue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D3D00-183B-40AE-423F-8EB5BBA39435}"/>
              </a:ext>
            </a:extLst>
          </p:cNvPr>
          <p:cNvSpPr/>
          <p:nvPr/>
        </p:nvSpPr>
        <p:spPr>
          <a:xfrm>
            <a:off x="5522976" y="1801661"/>
            <a:ext cx="5376672" cy="9049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da-DK" sz="1600" err="1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&lt;- 2   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in g</a:t>
            </a:r>
          </a:p>
          <a:p>
            <a:pPr>
              <a:lnSpc>
                <a:spcPct val="150000"/>
              </a:lnSpc>
            </a:pPr>
            <a:r>
              <a:rPr lang="da-DK" sz="1600" err="1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&lt;- 100 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in ml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EF7BEB-969C-EC35-616A-6DE66A223459}"/>
              </a:ext>
            </a:extLst>
          </p:cNvPr>
          <p:cNvSpPr/>
          <p:nvPr/>
        </p:nvSpPr>
        <p:spPr>
          <a:xfrm>
            <a:off x="5522976" y="2960433"/>
            <a:ext cx="5376672" cy="1667986"/>
          </a:xfrm>
          <a:prstGeom prst="roundRect">
            <a:avLst>
              <a:gd name="adj" fmla="val 924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concentration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=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/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endParaRPr lang="da-DK" sz="1600">
              <a:solidFill>
                <a:schemeClr val="tx2">
                  <a:lumMod val="60000"/>
                  <a:lumOff val="40000"/>
                </a:schemeClr>
              </a:solidFill>
              <a:latin typeface="Gungsuh" panose="020B0503020000020004" pitchFamily="18" charset="-127"/>
              <a:ea typeface="Gungsuh" panose="020B0503020000020004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calculate_concentration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&lt;- </a:t>
            </a:r>
            <a:r>
              <a:rPr lang="en-US" sz="1600">
                <a:solidFill>
                  <a:srgbClr val="00B0F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function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</a:t>
            </a:r>
            <a:r>
              <a:rPr lang="en-US" sz="16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m,v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</a:t>
            </a:r>
            <a:r>
              <a:rPr lang="en-US" sz="1600">
                <a:solidFill>
                  <a:srgbClr val="00B0F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return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(m/v)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}</a:t>
            </a:r>
            <a:endParaRPr lang="da-DK" sz="1600">
              <a:solidFill>
                <a:srgbClr val="333333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5681CE-8A1D-2AEE-9DCB-2EDC987833B7}"/>
              </a:ext>
            </a:extLst>
          </p:cNvPr>
          <p:cNvSpPr/>
          <p:nvPr/>
        </p:nvSpPr>
        <p:spPr>
          <a:xfrm>
            <a:off x="5522976" y="4882228"/>
            <a:ext cx="5376672" cy="98218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calculate_concentration</a:t>
            </a:r>
            <a:r>
              <a:rPr lang="en-US" sz="16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(mass, volume)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&gt; 0,2</a:t>
            </a:r>
            <a:endParaRPr lang="da-DK" sz="1600">
              <a:solidFill>
                <a:schemeClr val="bg2">
                  <a:lumMod val="50000"/>
                </a:schemeClr>
              </a:solidFill>
              <a:latin typeface="Gungsuh" panose="020B0503020000020004" pitchFamily="18" charset="-127"/>
              <a:ea typeface="Gungsuh" panose="020B0503020000020004" pitchFamily="18" charset="-12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DF924F-CC15-BB6F-30D0-7BADC5CA326B}"/>
              </a:ext>
            </a:extLst>
          </p:cNvPr>
          <p:cNvGrpSpPr/>
          <p:nvPr/>
        </p:nvGrpSpPr>
        <p:grpSpPr>
          <a:xfrm>
            <a:off x="838200" y="4882228"/>
            <a:ext cx="4136136" cy="1325563"/>
            <a:chOff x="582168" y="4059937"/>
            <a:chExt cx="4364736" cy="132556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74DC0FD-66AF-53BD-B19A-2D91ED49626C}"/>
                </a:ext>
              </a:extLst>
            </p:cNvPr>
            <p:cNvSpPr/>
            <p:nvPr/>
          </p:nvSpPr>
          <p:spPr>
            <a:xfrm>
              <a:off x="582168" y="4059937"/>
              <a:ext cx="4364736" cy="132556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>
                <a:lnSpc>
                  <a:spcPct val="150000"/>
                </a:lnSpc>
              </a:pPr>
              <a:r>
                <a:rPr lang="da-DK" sz="1400" b="1" err="1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Example</a:t>
              </a:r>
              <a:r>
                <a:rPr lang="da-DK" sz="1400" b="1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: </a:t>
              </a:r>
              <a:r>
                <a:rPr lang="da-DK" sz="1400" b="1" err="1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Calulcate</a:t>
              </a:r>
              <a:r>
                <a:rPr lang="da-DK" sz="1400" b="1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da-DK" sz="1400" b="1" err="1">
                  <a:solidFill>
                    <a:srgbClr val="333333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Concentration</a:t>
              </a:r>
              <a:endParaRPr lang="da-DK" sz="1400" b="1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endParaRPr lang="da-DK" sz="1400">
                <a:solidFill>
                  <a:srgbClr val="333333"/>
                </a:solidFill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F49038A-30DD-BD61-1FB1-DCA61395109E}"/>
                    </a:ext>
                  </a:extLst>
                </p:cNvPr>
                <p:cNvSpPr txBox="1"/>
                <p:nvPr/>
              </p:nvSpPr>
              <p:spPr>
                <a:xfrm>
                  <a:off x="1402080" y="4701571"/>
                  <a:ext cx="2650790" cy="47448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da-DK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𝑜𝑛𝑐𝑒𝑛𝑡𝑟𝑎𝑡𝑖𝑜𝑛</m:t>
                        </m:r>
                        <m:r>
                          <a:rPr lang="da-DK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da-DK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𝑚𝑎𝑠𝑠</m:t>
                            </m:r>
                          </m:num>
                          <m:den>
                            <m:r>
                              <a:rPr lang="da-DK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𝑣𝑜𝑙𝑢𝑚𝑒</m:t>
                            </m:r>
                          </m:den>
                        </m:f>
                      </m:oMath>
                    </m:oMathPara>
                  </a14:m>
                  <a:endParaRPr lang="da-DK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F49038A-30DD-BD61-1FB1-DCA6139510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2080" y="4701571"/>
                  <a:ext cx="2650790" cy="474489"/>
                </a:xfrm>
                <a:prstGeom prst="rect">
                  <a:avLst/>
                </a:prstGeom>
                <a:blipFill>
                  <a:blip r:embed="rId3"/>
                  <a:stretch>
                    <a:fillRect r="-21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0059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B0F3-A34D-ECB8-59E1-3D6F55478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Variables </a:t>
            </a:r>
            <a:r>
              <a:rPr lang="da-DK">
                <a:solidFill>
                  <a:schemeClr val="tx1">
                    <a:lumMod val="75000"/>
                  </a:schemeClr>
                </a:solidFill>
              </a:rPr>
              <a:t>&lt;-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37FB-37C2-E2C9-6410-07EEE6CF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892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Try to </a:t>
            </a:r>
            <a:r>
              <a:rPr lang="da-DK" err="1"/>
              <a:t>always</a:t>
            </a:r>
            <a:r>
              <a:rPr lang="da-DK"/>
              <a:t> store </a:t>
            </a:r>
            <a:r>
              <a:rPr lang="da-DK" err="1"/>
              <a:t>values</a:t>
            </a:r>
            <a:r>
              <a:rPr lang="da-DK"/>
              <a:t> in variables </a:t>
            </a:r>
          </a:p>
          <a:p>
            <a:endParaRPr lang="da-DK"/>
          </a:p>
          <a:p>
            <a:r>
              <a:rPr lang="da-DK" err="1"/>
              <a:t>Easier</a:t>
            </a:r>
            <a:r>
              <a:rPr lang="da-DK"/>
              <a:t> to </a:t>
            </a:r>
            <a:r>
              <a:rPr lang="da-DK" err="1"/>
              <a:t>read</a:t>
            </a:r>
            <a:r>
              <a:rPr lang="da-DK"/>
              <a:t> the </a:t>
            </a:r>
            <a:r>
              <a:rPr lang="da-DK" err="1"/>
              <a:t>code</a:t>
            </a:r>
            <a:r>
              <a:rPr lang="da-DK"/>
              <a:t> </a:t>
            </a:r>
            <a:br>
              <a:rPr lang="da-DK"/>
            </a:br>
            <a:r>
              <a:rPr lang="da-DK" sz="2000">
                <a:solidFill>
                  <a:schemeClr val="tx1"/>
                </a:solidFill>
              </a:rPr>
              <a:t>(If </a:t>
            </a:r>
            <a:r>
              <a:rPr lang="da-DK" sz="2000" err="1">
                <a:solidFill>
                  <a:schemeClr val="tx1"/>
                </a:solidFill>
              </a:rPr>
              <a:t>your</a:t>
            </a:r>
            <a:r>
              <a:rPr lang="da-DK" sz="2000">
                <a:solidFill>
                  <a:schemeClr val="tx1"/>
                </a:solidFill>
              </a:rPr>
              <a:t> variables have </a:t>
            </a:r>
            <a:r>
              <a:rPr lang="da-DK" sz="2000" err="1">
                <a:solidFill>
                  <a:schemeClr val="tx1"/>
                </a:solidFill>
              </a:rPr>
              <a:t>meaningful</a:t>
            </a:r>
            <a:r>
              <a:rPr lang="da-DK" sz="2000">
                <a:solidFill>
                  <a:schemeClr val="tx1"/>
                </a:solidFill>
              </a:rPr>
              <a:t> </a:t>
            </a:r>
            <a:r>
              <a:rPr lang="da-DK" sz="2000" err="1">
                <a:solidFill>
                  <a:schemeClr val="tx1"/>
                </a:solidFill>
              </a:rPr>
              <a:t>names</a:t>
            </a:r>
            <a:r>
              <a:rPr lang="da-DK" sz="2000">
                <a:solidFill>
                  <a:schemeClr val="tx1"/>
                </a:solidFill>
              </a:rPr>
              <a:t>)</a:t>
            </a:r>
            <a:endParaRPr lang="da-DK" sz="2000">
              <a:solidFill>
                <a:schemeClr val="tx1"/>
              </a:solidFill>
              <a:cs typeface="Microsoft New Tai Lue"/>
            </a:endParaRPr>
          </a:p>
          <a:p>
            <a:endParaRPr lang="da-DK">
              <a:solidFill>
                <a:schemeClr val="tx1"/>
              </a:solidFill>
            </a:endParaRPr>
          </a:p>
          <a:p>
            <a:r>
              <a:rPr lang="da-DK" err="1"/>
              <a:t>Easier</a:t>
            </a:r>
            <a:r>
              <a:rPr lang="da-DK"/>
              <a:t> to </a:t>
            </a:r>
            <a:r>
              <a:rPr lang="da-DK" err="1"/>
              <a:t>reuse</a:t>
            </a:r>
            <a:r>
              <a:rPr lang="da-DK"/>
              <a:t> </a:t>
            </a:r>
            <a:r>
              <a:rPr lang="da-DK" err="1"/>
              <a:t>your</a:t>
            </a:r>
            <a:r>
              <a:rPr lang="da-DK"/>
              <a:t> </a:t>
            </a:r>
            <a:r>
              <a:rPr lang="da-DK" err="1"/>
              <a:t>code</a:t>
            </a:r>
            <a:br>
              <a:rPr lang="da-DK"/>
            </a:br>
            <a:r>
              <a:rPr lang="da-DK" sz="2000">
                <a:solidFill>
                  <a:schemeClr val="tx1"/>
                </a:solidFill>
              </a:rPr>
              <a:t>(</a:t>
            </a:r>
            <a:r>
              <a:rPr lang="da-DK" sz="2000" err="1">
                <a:solidFill>
                  <a:schemeClr val="tx1"/>
                </a:solidFill>
              </a:rPr>
              <a:t>You</a:t>
            </a:r>
            <a:r>
              <a:rPr lang="da-DK" sz="2000">
                <a:solidFill>
                  <a:schemeClr val="tx1"/>
                </a:solidFill>
              </a:rPr>
              <a:t> </a:t>
            </a:r>
            <a:r>
              <a:rPr lang="da-DK" sz="2000" err="1">
                <a:solidFill>
                  <a:schemeClr val="tx1"/>
                </a:solidFill>
              </a:rPr>
              <a:t>adjust</a:t>
            </a:r>
            <a:r>
              <a:rPr lang="da-DK" sz="2000">
                <a:solidFill>
                  <a:schemeClr val="tx1"/>
                </a:solidFill>
              </a:rPr>
              <a:t> </a:t>
            </a:r>
            <a:r>
              <a:rPr lang="da-DK" sz="2000" err="1">
                <a:solidFill>
                  <a:schemeClr val="tx1"/>
                </a:solidFill>
              </a:rPr>
              <a:t>values</a:t>
            </a:r>
            <a:r>
              <a:rPr lang="da-DK" sz="2000">
                <a:solidFill>
                  <a:schemeClr val="tx1"/>
                </a:solidFill>
              </a:rPr>
              <a:t> in </a:t>
            </a:r>
            <a:r>
              <a:rPr lang="da-DK" sz="2000" err="1">
                <a:solidFill>
                  <a:schemeClr val="tx1"/>
                </a:solidFill>
              </a:rPr>
              <a:t>one</a:t>
            </a:r>
            <a:r>
              <a:rPr lang="da-DK" sz="2000">
                <a:solidFill>
                  <a:schemeClr val="tx1"/>
                </a:solidFill>
              </a:rPr>
              <a:t> </a:t>
            </a:r>
            <a:r>
              <a:rPr lang="da-DK" sz="2000" err="1">
                <a:solidFill>
                  <a:schemeClr val="tx1"/>
                </a:solidFill>
              </a:rPr>
              <a:t>place</a:t>
            </a:r>
            <a:r>
              <a:rPr lang="da-DK" sz="2000">
                <a:solidFill>
                  <a:schemeClr val="tx1"/>
                </a:solidFill>
              </a:rPr>
              <a:t>, </a:t>
            </a:r>
            <a:br>
              <a:rPr lang="da-DK" sz="2000">
                <a:solidFill>
                  <a:schemeClr val="tx1"/>
                </a:solidFill>
              </a:rPr>
            </a:br>
            <a:r>
              <a:rPr lang="da-DK" sz="2000">
                <a:solidFill>
                  <a:schemeClr val="tx1"/>
                </a:solidFill>
              </a:rPr>
              <a:t>not in 10 </a:t>
            </a:r>
            <a:r>
              <a:rPr lang="da-DK" sz="2000" err="1">
                <a:solidFill>
                  <a:schemeClr val="tx1"/>
                </a:solidFill>
              </a:rPr>
              <a:t>different</a:t>
            </a:r>
            <a:r>
              <a:rPr lang="da-DK" sz="2000">
                <a:solidFill>
                  <a:schemeClr val="tx1"/>
                </a:solidFill>
              </a:rPr>
              <a:t> </a:t>
            </a:r>
            <a:r>
              <a:rPr lang="da-DK" sz="2000" err="1">
                <a:solidFill>
                  <a:schemeClr val="tx1"/>
                </a:solidFill>
              </a:rPr>
              <a:t>places</a:t>
            </a:r>
            <a:r>
              <a:rPr lang="da-DK" sz="2000">
                <a:solidFill>
                  <a:schemeClr val="tx1"/>
                </a:solidFill>
              </a:rPr>
              <a:t>)</a:t>
            </a:r>
            <a:endParaRPr lang="da-DK" sz="2000">
              <a:solidFill>
                <a:schemeClr val="tx1"/>
              </a:solidFill>
              <a:cs typeface="Microsoft New Tai Lue"/>
            </a:endParaRPr>
          </a:p>
          <a:p>
            <a:endParaRPr lang="da-D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B3A96F-75D5-B1EE-B703-6C0737579D97}"/>
              </a:ext>
            </a:extLst>
          </p:cNvPr>
          <p:cNvSpPr/>
          <p:nvPr/>
        </p:nvSpPr>
        <p:spPr>
          <a:xfrm>
            <a:off x="6388100" y="1825625"/>
            <a:ext cx="4965700" cy="9049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da-DK" sz="1600" b="1" err="1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&lt;- 2   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mass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in g</a:t>
            </a:r>
          </a:p>
          <a:p>
            <a:pPr>
              <a:lnSpc>
                <a:spcPct val="150000"/>
              </a:lnSpc>
            </a:pPr>
            <a:r>
              <a:rPr lang="da-DK" sz="1600" b="1" err="1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&lt;- 100 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# </a:t>
            </a:r>
            <a:r>
              <a:rPr lang="da-DK" sz="1600" err="1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volume</a:t>
            </a:r>
            <a:r>
              <a:rPr lang="da-DK" sz="1600">
                <a:solidFill>
                  <a:schemeClr val="tx2">
                    <a:lumMod val="60000"/>
                    <a:lumOff val="40000"/>
                  </a:schemeClr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in ml</a:t>
            </a:r>
            <a:r>
              <a:rPr lang="da-DK" sz="1600">
                <a:solidFill>
                  <a:srgbClr val="333333"/>
                </a:solidFill>
                <a:latin typeface="Gungsuh" panose="020B0503020000020004" pitchFamily="18" charset="-127"/>
                <a:ea typeface="Gungsuh" panose="020B0503020000020004" pitchFamily="18" charset="-127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43C7DE-A885-26A0-0A61-9706D1242E20}"/>
              </a:ext>
            </a:extLst>
          </p:cNvPr>
          <p:cNvGrpSpPr/>
          <p:nvPr/>
        </p:nvGrpSpPr>
        <p:grpSpPr>
          <a:xfrm>
            <a:off x="6388100" y="2992068"/>
            <a:ext cx="4965700" cy="1032246"/>
            <a:chOff x="6388100" y="2992068"/>
            <a:chExt cx="4965700" cy="103224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14EEB11-9406-CBA3-57FD-2C829227D233}"/>
                </a:ext>
              </a:extLst>
            </p:cNvPr>
            <p:cNvSpPr/>
            <p:nvPr/>
          </p:nvSpPr>
          <p:spPr>
            <a:xfrm>
              <a:off x="6388100" y="2992068"/>
              <a:ext cx="4965700" cy="1032246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rgbClr val="333333"/>
                  </a:solidFill>
                  <a:latin typeface="Gungsuh" panose="02030600000101010101" pitchFamily="18" charset="-127"/>
                  <a:ea typeface="Gungsuh" panose="02030600000101010101" pitchFamily="18" charset="-127"/>
                </a:rPr>
                <a:t>concentration = </a:t>
              </a:r>
              <a:r>
                <a:rPr lang="en-US" sz="1600" b="1">
                  <a:solidFill>
                    <a:srgbClr val="333333"/>
                  </a:solidFill>
                  <a:latin typeface="Gungsuh" panose="02030600000101010101" pitchFamily="18" charset="-127"/>
                  <a:ea typeface="Gungsuh" panose="02030600000101010101" pitchFamily="18" charset="-127"/>
                </a:rPr>
                <a:t>mass</a:t>
              </a:r>
              <a:r>
                <a:rPr lang="en-US" sz="1600">
                  <a:solidFill>
                    <a:srgbClr val="333333"/>
                  </a:solidFill>
                  <a:latin typeface="Gungsuh" panose="02030600000101010101" pitchFamily="18" charset="-127"/>
                  <a:ea typeface="Gungsuh" panose="02030600000101010101" pitchFamily="18" charset="-127"/>
                </a:rPr>
                <a:t>/</a:t>
              </a:r>
              <a:r>
                <a:rPr lang="en-US" sz="1600" b="1">
                  <a:solidFill>
                    <a:srgbClr val="333333"/>
                  </a:solidFill>
                  <a:latin typeface="Gungsuh" panose="02030600000101010101" pitchFamily="18" charset="-127"/>
                  <a:ea typeface="Gungsuh" panose="02030600000101010101" pitchFamily="18" charset="-127"/>
                </a:rPr>
                <a:t>volume</a:t>
              </a:r>
            </a:p>
            <a:p>
              <a:pPr>
                <a:lnSpc>
                  <a:spcPct val="150000"/>
                </a:lnSpc>
              </a:pPr>
              <a:r>
                <a:rPr lang="en-US" sz="1600">
                  <a:solidFill>
                    <a:srgbClr val="333333"/>
                  </a:solidFill>
                  <a:latin typeface="Gungsuh" panose="02030600000101010101" pitchFamily="18" charset="-127"/>
                  <a:ea typeface="Gungsuh" panose="02030600000101010101" pitchFamily="18" charset="-127"/>
                </a:rPr>
                <a:t>concentration = 2/100</a:t>
              </a:r>
            </a:p>
          </p:txBody>
        </p:sp>
        <p:pic>
          <p:nvPicPr>
            <p:cNvPr id="7" name="Graphic 6" descr="Smiling face outline outline">
              <a:extLst>
                <a:ext uri="{FF2B5EF4-FFF2-40B4-BE49-F238E27FC236}">
                  <a16:creationId xmlns:a16="http://schemas.microsoft.com/office/drawing/2014/main" id="{6C7F48FC-4079-ABA4-D3F1-ADE1B7ABB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39400" y="3146241"/>
              <a:ext cx="419100" cy="419100"/>
            </a:xfrm>
            <a:prstGeom prst="rect">
              <a:avLst/>
            </a:prstGeom>
          </p:spPr>
        </p:pic>
        <p:pic>
          <p:nvPicPr>
            <p:cNvPr id="9" name="Graphic 8" descr="Sad face outline outline">
              <a:extLst>
                <a:ext uri="{FF2B5EF4-FFF2-40B4-BE49-F238E27FC236}">
                  <a16:creationId xmlns:a16="http://schemas.microsoft.com/office/drawing/2014/main" id="{1017C2CC-EC7C-0436-C8C7-56E6EDB4F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39400" y="3565341"/>
              <a:ext cx="419100" cy="419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075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8941BDC1-B983-58EA-25A2-6A6BEF5C8026}"/>
              </a:ext>
            </a:extLst>
          </p:cNvPr>
          <p:cNvSpPr txBox="1"/>
          <p:nvPr/>
        </p:nvSpPr>
        <p:spPr>
          <a:xfrm>
            <a:off x="8342709" y="5154641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/>
              <a:t>Code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CA3D2-1819-9508-CAC7-B6237D7D7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Functions</a:t>
            </a:r>
            <a:r>
              <a:rPr lang="da-DK">
                <a:solidFill>
                  <a:schemeClr val="tx1">
                    <a:lumMod val="75000"/>
                  </a:schemeClr>
                </a:solidFill>
              </a:rPr>
              <a:t>(argument1, argument2)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55F1-10EB-F350-6E3E-76BE4696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026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/>
              <a:t>If </a:t>
            </a:r>
            <a:r>
              <a:rPr lang="da-DK" err="1"/>
              <a:t>you</a:t>
            </a:r>
            <a:r>
              <a:rPr lang="da-DK"/>
              <a:t> have to </a:t>
            </a:r>
            <a:r>
              <a:rPr lang="da-DK" err="1"/>
              <a:t>write</a:t>
            </a:r>
            <a:r>
              <a:rPr lang="da-DK"/>
              <a:t> the same </a:t>
            </a:r>
            <a:r>
              <a:rPr lang="da-DK" err="1"/>
              <a:t>code</a:t>
            </a:r>
            <a:r>
              <a:rPr lang="da-DK"/>
              <a:t> </a:t>
            </a:r>
            <a:r>
              <a:rPr lang="da-DK" err="1"/>
              <a:t>two</a:t>
            </a:r>
            <a:r>
              <a:rPr lang="da-DK"/>
              <a:t> (or more ) times</a:t>
            </a:r>
            <a:br>
              <a:rPr lang="da-DK"/>
            </a:br>
            <a:r>
              <a:rPr lang="da-DK" sz="2400">
                <a:sym typeface="Wingdings" panose="05000000000000000000" pitchFamily="2" charset="2"/>
              </a:rPr>
              <a:t> M</a:t>
            </a:r>
            <a:r>
              <a:rPr lang="da-DK" sz="2400"/>
              <a:t>ake a </a:t>
            </a:r>
            <a:r>
              <a:rPr lang="da-DK" sz="2400" err="1"/>
              <a:t>function</a:t>
            </a:r>
            <a:r>
              <a:rPr lang="da-DK" sz="2400"/>
              <a:t> out of it!</a:t>
            </a:r>
            <a:br>
              <a:rPr lang="da-DK" sz="2400"/>
            </a:br>
            <a:r>
              <a:rPr lang="da-DK" sz="2400">
                <a:sym typeface="Wingdings" panose="05000000000000000000" pitchFamily="2" charset="2"/>
              </a:rPr>
              <a:t> </a:t>
            </a:r>
            <a:r>
              <a:rPr lang="da-DK" sz="2400" err="1">
                <a:sym typeface="Wingdings" panose="05000000000000000000" pitchFamily="2" charset="2"/>
              </a:rPr>
              <a:t>M</a:t>
            </a:r>
            <a:r>
              <a:rPr lang="da-DK" sz="2400" err="1"/>
              <a:t>inimizes</a:t>
            </a:r>
            <a:r>
              <a:rPr lang="da-DK" sz="2400"/>
              <a:t> </a:t>
            </a:r>
            <a:r>
              <a:rPr lang="da-DK" sz="2400" err="1"/>
              <a:t>errors</a:t>
            </a:r>
            <a:r>
              <a:rPr lang="da-DK" sz="2400"/>
              <a:t> and </a:t>
            </a:r>
            <a:r>
              <a:rPr lang="da-DK" sz="2400" err="1"/>
              <a:t>you</a:t>
            </a:r>
            <a:r>
              <a:rPr lang="da-DK" sz="2400"/>
              <a:t> have to </a:t>
            </a:r>
            <a:r>
              <a:rPr lang="da-DK" sz="2400" err="1"/>
              <a:t>write</a:t>
            </a:r>
            <a:r>
              <a:rPr lang="da-DK" sz="2400"/>
              <a:t> </a:t>
            </a:r>
            <a:r>
              <a:rPr lang="da-DK" sz="2400" err="1"/>
              <a:t>less</a:t>
            </a:r>
            <a:r>
              <a:rPr lang="da-DK" sz="2400"/>
              <a:t> </a:t>
            </a:r>
            <a:r>
              <a:rPr lang="da-DK" sz="2400" err="1"/>
              <a:t>code</a:t>
            </a:r>
            <a:r>
              <a:rPr lang="da-DK" sz="2400"/>
              <a:t>. </a:t>
            </a:r>
            <a:endParaRPr lang="da-D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566199-82D9-AEBA-45B4-9791544D2DE2}"/>
              </a:ext>
            </a:extLst>
          </p:cNvPr>
          <p:cNvSpPr/>
          <p:nvPr/>
        </p:nvSpPr>
        <p:spPr>
          <a:xfrm>
            <a:off x="771525" y="3982244"/>
            <a:ext cx="4333875" cy="222408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defRPr/>
            </a:pP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Think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of a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function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like a blender.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can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use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it to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make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a smoothie out of bananas and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apples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. If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want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to have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another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smoothie made of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strawberries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and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apples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,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don’t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by a new blender –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reuse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the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one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already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have,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because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it provides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exactly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the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functionality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you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da-DK" sz="1600" err="1">
                <a:solidFill>
                  <a:schemeClr val="tx1">
                    <a:lumMod val="75000"/>
                  </a:schemeClr>
                </a:solidFill>
              </a:rPr>
              <a:t>need</a:t>
            </a:r>
            <a:r>
              <a:rPr lang="da-DK" sz="1600">
                <a:solidFill>
                  <a:schemeClr val="tx1">
                    <a:lumMod val="75000"/>
                  </a:schemeClr>
                </a:solidFill>
              </a:rPr>
              <a:t>!</a:t>
            </a:r>
          </a:p>
        </p:txBody>
      </p:sp>
      <p:pic>
        <p:nvPicPr>
          <p:cNvPr id="6" name="Graphic 5" descr="Blender outline">
            <a:extLst>
              <a:ext uri="{FF2B5EF4-FFF2-40B4-BE49-F238E27FC236}">
                <a16:creationId xmlns:a16="http://schemas.microsoft.com/office/drawing/2014/main" id="{3CD98817-9CF7-A5BF-2E79-41EB1756F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1530" y="3642526"/>
            <a:ext cx="1520825" cy="15208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793B51-4454-D7F7-12F5-2DAECC96FDAE}"/>
              </a:ext>
            </a:extLst>
          </p:cNvPr>
          <p:cNvSpPr txBox="1"/>
          <p:nvPr/>
        </p:nvSpPr>
        <p:spPr>
          <a:xfrm>
            <a:off x="8170386" y="5142468"/>
            <a:ext cx="10631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a-DK" err="1"/>
              <a:t>Function</a:t>
            </a:r>
            <a:endParaRPr lang="da-DK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95C04D-1E9F-44A2-8A42-1808E4A15374}"/>
              </a:ext>
            </a:extLst>
          </p:cNvPr>
          <p:cNvGrpSpPr/>
          <p:nvPr/>
        </p:nvGrpSpPr>
        <p:grpSpPr>
          <a:xfrm>
            <a:off x="5404365" y="3788305"/>
            <a:ext cx="1828800" cy="1187443"/>
            <a:chOff x="7540550" y="4058444"/>
            <a:chExt cx="1828800" cy="1187443"/>
          </a:xfrm>
        </p:grpSpPr>
        <p:pic>
          <p:nvPicPr>
            <p:cNvPr id="8" name="Graphic 7" descr="Banana outline">
              <a:extLst>
                <a:ext uri="{FF2B5EF4-FFF2-40B4-BE49-F238E27FC236}">
                  <a16:creationId xmlns:a16="http://schemas.microsoft.com/office/drawing/2014/main" id="{A70745B9-5D21-1CC6-505C-6CBC45B7E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40550" y="4067958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Apple outline">
              <a:extLst>
                <a:ext uri="{FF2B5EF4-FFF2-40B4-BE49-F238E27FC236}">
                  <a16:creationId xmlns:a16="http://schemas.microsoft.com/office/drawing/2014/main" id="{CA103B22-C1C6-58EB-FADD-5303F0EAF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54950" y="405844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4F80D71-807B-2B9B-A5B0-0B0F3526A356}"/>
                </a:ext>
              </a:extLst>
            </p:cNvPr>
            <p:cNvSpPr txBox="1"/>
            <p:nvPr/>
          </p:nvSpPr>
          <p:spPr>
            <a:xfrm>
              <a:off x="7867577" y="487655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Variables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C02DD-C29F-209A-9CF5-7B1A6DA7480B}"/>
              </a:ext>
            </a:extLst>
          </p:cNvPr>
          <p:cNvGrpSpPr/>
          <p:nvPr/>
        </p:nvGrpSpPr>
        <p:grpSpPr>
          <a:xfrm>
            <a:off x="5525844" y="4975748"/>
            <a:ext cx="1791403" cy="1221311"/>
            <a:chOff x="7678330" y="5170487"/>
            <a:chExt cx="1791403" cy="1221311"/>
          </a:xfrm>
        </p:grpSpPr>
        <p:pic>
          <p:nvPicPr>
            <p:cNvPr id="10" name="Graphic 9" descr="Strawberry outline">
              <a:extLst>
                <a:ext uri="{FF2B5EF4-FFF2-40B4-BE49-F238E27FC236}">
                  <a16:creationId xmlns:a16="http://schemas.microsoft.com/office/drawing/2014/main" id="{113E7187-0829-DD2D-8B8C-0FF395286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678330" y="5170487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Apple outline">
              <a:extLst>
                <a:ext uri="{FF2B5EF4-FFF2-40B4-BE49-F238E27FC236}">
                  <a16:creationId xmlns:a16="http://schemas.microsoft.com/office/drawing/2014/main" id="{A8C9A499-D55C-D7F6-D302-DD9B8759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70682" y="5170487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C02B9F-710E-27A8-0B6D-C7785DD5B07D}"/>
                </a:ext>
              </a:extLst>
            </p:cNvPr>
            <p:cNvSpPr txBox="1"/>
            <p:nvPr/>
          </p:nvSpPr>
          <p:spPr>
            <a:xfrm>
              <a:off x="7715727" y="6022466"/>
              <a:ext cx="17540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err="1"/>
                <a:t>Other</a:t>
              </a:r>
              <a:r>
                <a:rPr lang="da-DK"/>
                <a:t> Variables</a:t>
              </a:r>
            </a:p>
          </p:txBody>
        </p:sp>
      </p:grpSp>
      <p:pic>
        <p:nvPicPr>
          <p:cNvPr id="18" name="Graphic 17" descr="Arrow Right outline">
            <a:extLst>
              <a:ext uri="{FF2B5EF4-FFF2-40B4-BE49-F238E27FC236}">
                <a16:creationId xmlns:a16="http://schemas.microsoft.com/office/drawing/2014/main" id="{9A37991A-031A-DBAA-80C5-77ED541119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1719" y="3978561"/>
            <a:ext cx="760412" cy="760412"/>
          </a:xfrm>
          <a:prstGeom prst="rect">
            <a:avLst/>
          </a:prstGeom>
        </p:spPr>
      </p:pic>
      <p:pic>
        <p:nvPicPr>
          <p:cNvPr id="19" name="Graphic 18" descr="Arrow Right outline">
            <a:extLst>
              <a:ext uri="{FF2B5EF4-FFF2-40B4-BE49-F238E27FC236}">
                <a16:creationId xmlns:a16="http://schemas.microsoft.com/office/drawing/2014/main" id="{A8F7E9BF-5CB1-E786-1EE1-F84115854A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9436133">
            <a:off x="7363706" y="4994026"/>
            <a:ext cx="760412" cy="760412"/>
          </a:xfrm>
          <a:prstGeom prst="rect">
            <a:avLst/>
          </a:prstGeom>
        </p:spPr>
      </p:pic>
      <p:pic>
        <p:nvPicPr>
          <p:cNvPr id="25" name="Graphic 24" descr="Arrow Right outline">
            <a:extLst>
              <a:ext uri="{FF2B5EF4-FFF2-40B4-BE49-F238E27FC236}">
                <a16:creationId xmlns:a16="http://schemas.microsoft.com/office/drawing/2014/main" id="{768328A0-C6AA-FE8F-2EA1-567034F066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18340" y="3978561"/>
            <a:ext cx="760412" cy="760412"/>
          </a:xfrm>
          <a:prstGeom prst="rect">
            <a:avLst/>
          </a:prstGeom>
        </p:spPr>
      </p:pic>
      <p:pic>
        <p:nvPicPr>
          <p:cNvPr id="27" name="Graphic 26" descr="Arrow Right outline">
            <a:extLst>
              <a:ext uri="{FF2B5EF4-FFF2-40B4-BE49-F238E27FC236}">
                <a16:creationId xmlns:a16="http://schemas.microsoft.com/office/drawing/2014/main" id="{2816ED81-5EA2-0507-DF87-987AF50C42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838181">
            <a:off x="9328034" y="4987676"/>
            <a:ext cx="760412" cy="76041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844C951-2657-88AB-6A6B-6437415B62AF}"/>
              </a:ext>
            </a:extLst>
          </p:cNvPr>
          <p:cNvGrpSpPr/>
          <p:nvPr/>
        </p:nvGrpSpPr>
        <p:grpSpPr>
          <a:xfrm>
            <a:off x="10084993" y="3901567"/>
            <a:ext cx="925738" cy="1202016"/>
            <a:chOff x="10418368" y="4015867"/>
            <a:chExt cx="925738" cy="1202016"/>
          </a:xfrm>
        </p:grpSpPr>
        <p:pic>
          <p:nvPicPr>
            <p:cNvPr id="22" name="Graphic 21" descr="Frappe Cup outline">
              <a:extLst>
                <a:ext uri="{FF2B5EF4-FFF2-40B4-BE49-F238E27FC236}">
                  <a16:creationId xmlns:a16="http://schemas.microsoft.com/office/drawing/2014/main" id="{7154EC40-A398-693D-C4C1-AD7263CBC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29706" y="4015867"/>
              <a:ext cx="914400" cy="914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430DFFC-2CD9-177E-EA4C-EE743224C8FC}"/>
                </a:ext>
              </a:extLst>
            </p:cNvPr>
            <p:cNvSpPr txBox="1"/>
            <p:nvPr/>
          </p:nvSpPr>
          <p:spPr>
            <a:xfrm>
              <a:off x="10418368" y="4848551"/>
              <a:ext cx="912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Output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3DAD17-952F-7A4E-3512-C42D9C77BBAD}"/>
              </a:ext>
            </a:extLst>
          </p:cNvPr>
          <p:cNvGrpSpPr/>
          <p:nvPr/>
        </p:nvGrpSpPr>
        <p:grpSpPr>
          <a:xfrm>
            <a:off x="9761987" y="4986882"/>
            <a:ext cx="1558440" cy="1181602"/>
            <a:chOff x="10095362" y="5129757"/>
            <a:chExt cx="1558440" cy="1181602"/>
          </a:xfrm>
        </p:grpSpPr>
        <p:pic>
          <p:nvPicPr>
            <p:cNvPr id="26" name="Graphic 25" descr="Frappe Cup outline">
              <a:extLst>
                <a:ext uri="{FF2B5EF4-FFF2-40B4-BE49-F238E27FC236}">
                  <a16:creationId xmlns:a16="http://schemas.microsoft.com/office/drawing/2014/main" id="{F381B227-96F1-CA4D-2D5E-4CEFCDA21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439400" y="5129757"/>
              <a:ext cx="914400" cy="91440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C933C7-B807-9644-9CEC-BCFF0D93B0F3}"/>
                </a:ext>
              </a:extLst>
            </p:cNvPr>
            <p:cNvSpPr txBox="1"/>
            <p:nvPr/>
          </p:nvSpPr>
          <p:spPr>
            <a:xfrm>
              <a:off x="10095362" y="5942027"/>
              <a:ext cx="1558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err="1"/>
                <a:t>Other</a:t>
              </a:r>
              <a:r>
                <a:rPr lang="da-DK"/>
                <a:t> 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39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" grpId="0" uiExpand="1" build="p"/>
      <p:bldP spid="4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260D-0987-E2F5-7673-DCAA849E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59410"/>
            <a:r>
              <a:rPr lang="en-US">
                <a:cs typeface="Microsoft New Tai Lue"/>
              </a:rPr>
              <a:t>Libraries and Preexisting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0737A-2A79-0247-D209-AD75012E4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Microsoft New Tai Lue"/>
              </a:rPr>
              <a:t>Libraries/Packages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Microsoft New Tai Lue"/>
              </a:rPr>
              <a:t>Preexisting code</a:t>
            </a:r>
          </a:p>
          <a:p>
            <a:pPr marL="457200" lvl="1" indent="0">
              <a:buNone/>
            </a:pPr>
            <a:endParaRPr lang="en-US">
              <a:cs typeface="Microsoft New Tai Lue"/>
            </a:endParaRPr>
          </a:p>
          <a:p>
            <a:r>
              <a:rPr lang="en-US">
                <a:cs typeface="Microsoft New Tai Lue"/>
              </a:rPr>
              <a:t>Using functions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Microsoft New Tai Lue"/>
              </a:rPr>
              <a:t>Passing arguments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Microsoft New Tai Lue"/>
              </a:rPr>
              <a:t>Positional arguments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Microsoft New Tai Lue"/>
              </a:rPr>
              <a:t>Named arguments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cs typeface="Microsoft New Tai Lue"/>
              </a:rPr>
              <a:t>Documentation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cs typeface="Microsoft New Tai Lue"/>
                <a:hlinkClick r:id="rId2"/>
              </a:rPr>
              <a:t>seq() function</a:t>
            </a:r>
            <a:endParaRPr lang="en-US">
              <a:cs typeface="Microsoft New Tai Lue"/>
            </a:endParaRPr>
          </a:p>
          <a:p>
            <a:endParaRPr lang="en-US">
              <a:cs typeface="Microsoft New Tai Lue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554928-97F5-4922-6238-824AE7F18F29}"/>
              </a:ext>
            </a:extLst>
          </p:cNvPr>
          <p:cNvSpPr/>
          <p:nvPr/>
        </p:nvSpPr>
        <p:spPr>
          <a:xfrm>
            <a:off x="5400924" y="1444679"/>
            <a:ext cx="5376672" cy="16679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Gungsuh"/>
                <a:ea typeface="Gungsuh"/>
              </a:rPr>
              <a:t># install package</a:t>
            </a:r>
          </a:p>
          <a:p>
            <a:pPr>
              <a:lnSpc>
                <a:spcPct val="150000"/>
              </a:lnSpc>
            </a:pPr>
            <a:r>
              <a:rPr lang="en-US" sz="1600" err="1">
                <a:solidFill>
                  <a:srgbClr val="333333"/>
                </a:solidFill>
                <a:latin typeface="Gungsuh"/>
                <a:ea typeface="Gungsuh"/>
              </a:rPr>
              <a:t>install.packages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("</a:t>
            </a:r>
            <a:r>
              <a:rPr lang="en-US" sz="1600" err="1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tidyverse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")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  <a:latin typeface="GungSuh"/>
                <a:ea typeface="GungSuh"/>
                <a:cs typeface="Microsoft New Tai Lue"/>
              </a:rPr>
              <a:t># import package</a:t>
            </a:r>
            <a:endParaRPr lang="en-US" sz="1600">
              <a:solidFill>
                <a:schemeClr val="tx1"/>
              </a:solidFill>
              <a:latin typeface="GungSuh"/>
              <a:ea typeface="GungSuh"/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library(</a:t>
            </a:r>
            <a:r>
              <a:rPr lang="en-US" sz="1600" err="1">
                <a:solidFill>
                  <a:srgbClr val="333333"/>
                </a:solidFill>
                <a:latin typeface="Gungsuh"/>
                <a:ea typeface="Gungsuh"/>
              </a:rPr>
              <a:t>tidyverse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)</a:t>
            </a:r>
            <a:endParaRPr lang="en-US" sz="1600">
              <a:solidFill>
                <a:srgbClr val="333333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A9AE59-4F90-F165-17CD-82B0086201F1}"/>
              </a:ext>
            </a:extLst>
          </p:cNvPr>
          <p:cNvSpPr/>
          <p:nvPr/>
        </p:nvSpPr>
        <p:spPr>
          <a:xfrm>
            <a:off x="5404882" y="3457547"/>
            <a:ext cx="5376672" cy="2716973"/>
          </a:xfrm>
          <a:prstGeom prst="roundRect">
            <a:avLst>
              <a:gd name="adj" fmla="val 10357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Gungsuh"/>
                <a:ea typeface="Gungsuh"/>
              </a:rPr>
              <a:t># arguments by order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seq(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2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, 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10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, 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2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)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>
                    <a:lumMod val="49000"/>
                  </a:schemeClr>
                </a:solidFill>
                <a:latin typeface="Gungsuh"/>
                <a:ea typeface="Gungsuh"/>
                <a:cs typeface="Microsoft New Tai Lue"/>
              </a:rPr>
              <a:t>&gt; 2 4 6 8 10</a:t>
            </a:r>
          </a:p>
          <a:p>
            <a:pPr>
              <a:lnSpc>
                <a:spcPct val="150000"/>
              </a:lnSpc>
            </a:pPr>
            <a:endParaRPr lang="en-US" sz="1600">
              <a:solidFill>
                <a:schemeClr val="bg1">
                  <a:lumMod val="49000"/>
                </a:schemeClr>
              </a:solidFill>
              <a:latin typeface="Gungsuh"/>
              <a:ea typeface="Gungsuh"/>
              <a:cs typeface="Microsoft New Tai Lue"/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GungSuh"/>
                <a:ea typeface="GungSuh"/>
                <a:cs typeface="Microsoft New Tai Lue"/>
              </a:rPr>
              <a:t># arguments by name</a:t>
            </a:r>
            <a:endParaRPr lang="en-US" sz="1600">
              <a:solidFill>
                <a:schemeClr val="tx1"/>
              </a:solidFill>
              <a:latin typeface="GungSuh"/>
              <a:ea typeface="GungSuh"/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seq(from = 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2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, to = 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10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, by = </a:t>
            </a:r>
            <a:r>
              <a:rPr lang="en-US" sz="1600">
                <a:solidFill>
                  <a:schemeClr val="accent5">
                    <a:lumMod val="60000"/>
                    <a:lumOff val="40000"/>
                  </a:schemeClr>
                </a:solidFill>
                <a:latin typeface="GungSuh"/>
                <a:ea typeface="GungSuh"/>
              </a:rPr>
              <a:t>2</a:t>
            </a:r>
            <a:r>
              <a:rPr lang="en-US" sz="1600">
                <a:solidFill>
                  <a:srgbClr val="333333"/>
                </a:solidFill>
                <a:latin typeface="GungSuh"/>
                <a:ea typeface="GungSuh"/>
              </a:rPr>
              <a:t>)</a:t>
            </a:r>
            <a:endParaRPr lang="en-US" sz="1600">
              <a:solidFill>
                <a:srgbClr val="A9BBAA"/>
              </a:solidFill>
              <a:latin typeface="GungSuh"/>
              <a:ea typeface="GungSuh"/>
            </a:endParaRP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chemeClr val="bg1">
                    <a:lumMod val="49000"/>
                  </a:schemeClr>
                </a:solidFill>
                <a:latin typeface="GungSuh"/>
                <a:ea typeface="GungSuh"/>
              </a:rPr>
              <a:t>&gt; 2 4 6 8 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3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2518-32C8-F594-03CC-EFBAAA79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err="1"/>
              <a:t>Inspect</a:t>
            </a:r>
            <a:r>
              <a:rPr lang="da-DK"/>
              <a:t> </a:t>
            </a:r>
            <a:r>
              <a:rPr lang="da-DK" err="1"/>
              <a:t>Errors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37A5-4E4B-8E63-16F3-B7AED42B6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0" y="2640998"/>
            <a:ext cx="5734050" cy="4364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a-DK">
                <a:sym typeface="Wingdings" panose="05000000000000000000" pitchFamily="2" charset="2"/>
              </a:rPr>
              <a:t> </a:t>
            </a:r>
            <a:r>
              <a:rPr lang="da-DK" err="1"/>
              <a:t>Inspect</a:t>
            </a:r>
            <a:r>
              <a:rPr lang="da-DK"/>
              <a:t> </a:t>
            </a:r>
            <a:r>
              <a:rPr lang="da-DK" b="1"/>
              <a:t>Data</a:t>
            </a:r>
            <a:r>
              <a:rPr lang="da-DK"/>
              <a:t> and </a:t>
            </a:r>
            <a:r>
              <a:rPr lang="da-DK" b="1"/>
              <a:t>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770B0-EA69-AF82-AF0D-E5A4FC0A4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677428" cy="2067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4D1211-049D-B2EA-47A3-2B0AF44E0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790" y="4791028"/>
            <a:ext cx="6697010" cy="66684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F9E104-63D4-5593-9FD5-66A5C67B706B}"/>
              </a:ext>
            </a:extLst>
          </p:cNvPr>
          <p:cNvSpPr txBox="1">
            <a:spLocks/>
          </p:cNvSpPr>
          <p:nvPr/>
        </p:nvSpPr>
        <p:spPr>
          <a:xfrm>
            <a:off x="722965" y="4540250"/>
            <a:ext cx="3933825" cy="2067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>
                <a:sym typeface="Wingdings" panose="05000000000000000000" pitchFamily="2" charset="2"/>
              </a:rPr>
              <a:t>Read &amp; Google the </a:t>
            </a:r>
            <a:br>
              <a:rPr lang="da-DK">
                <a:sym typeface="Wingdings" panose="05000000000000000000" pitchFamily="2" charset="2"/>
              </a:rPr>
            </a:br>
            <a:r>
              <a:rPr lang="da-DK" b="1" err="1">
                <a:sym typeface="Wingdings" panose="05000000000000000000" pitchFamily="2" charset="2"/>
              </a:rPr>
              <a:t>error</a:t>
            </a:r>
            <a:r>
              <a:rPr lang="da-DK" b="1">
                <a:sym typeface="Wingdings" panose="05000000000000000000" pitchFamily="2" charset="2"/>
              </a:rPr>
              <a:t> message          </a:t>
            </a:r>
            <a:r>
              <a:rPr lang="da-DK">
                <a:sym typeface="Wingdings" panose="05000000000000000000" pitchFamily="2" charset="2"/>
              </a:rPr>
              <a:t> </a:t>
            </a:r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86290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044A-9549-599B-CCA0-E7E8BAA36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Debugging with </a:t>
            </a:r>
            <a:r>
              <a:rPr lang="da-DK">
                <a:solidFill>
                  <a:schemeClr val="tx1">
                    <a:lumMod val="75000"/>
                  </a:schemeClr>
                </a:solidFill>
              </a:rPr>
              <a:t>browser()</a:t>
            </a:r>
            <a:endParaRPr lang="da-DK" b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4B9E47-0813-0B49-0888-4031C2D2405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420350" cy="2041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a-DK"/>
              <a:t>Pause the </a:t>
            </a:r>
            <a:r>
              <a:rPr lang="da-DK" err="1"/>
              <a:t>code</a:t>
            </a:r>
            <a:r>
              <a:rPr lang="da-DK"/>
              <a:t> at a </a:t>
            </a:r>
            <a:r>
              <a:rPr lang="da-DK" err="1"/>
              <a:t>specific</a:t>
            </a:r>
            <a:r>
              <a:rPr lang="da-DK"/>
              <a:t> line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10B5DF-AC21-5231-3F32-5EC934D04362}"/>
              </a:ext>
            </a:extLst>
          </p:cNvPr>
          <p:cNvSpPr/>
          <p:nvPr/>
        </p:nvSpPr>
        <p:spPr>
          <a:xfrm>
            <a:off x="1395604" y="2987675"/>
            <a:ext cx="4485402" cy="3200400"/>
          </a:xfrm>
          <a:prstGeom prst="roundRect">
            <a:avLst>
              <a:gd name="adj" fmla="val 7738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800">
                <a:solidFill>
                  <a:srgbClr val="0070C0"/>
                </a:solidFill>
                <a:latin typeface="Gungsuh"/>
                <a:ea typeface="Gungsuh"/>
              </a:rPr>
              <a:t>library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(</a:t>
            </a:r>
            <a:r>
              <a:rPr lang="en-US" sz="800" err="1">
                <a:solidFill>
                  <a:srgbClr val="333333"/>
                </a:solidFill>
                <a:latin typeface="Gungsuh"/>
                <a:ea typeface="Gungsuh"/>
              </a:rPr>
              <a:t>tidyverse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data &lt;- read.csv(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/>
                <a:ea typeface="Gungsuh"/>
              </a:rPr>
              <a:t>"dissolution_data.csv"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800">
              <a:solidFill>
                <a:srgbClr val="333333"/>
              </a:solidFill>
              <a:latin typeface="Gungsuh"/>
              <a:ea typeface="Gungsuh"/>
            </a:endParaRP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data &lt;- data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/>
                <a:ea typeface="Gungsuh"/>
              </a:rPr>
              <a:t>%&gt;%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    mutate(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        </a:t>
            </a:r>
            <a:r>
              <a:rPr lang="en-US" sz="800" err="1">
                <a:solidFill>
                  <a:srgbClr val="333333"/>
                </a:solidFill>
                <a:latin typeface="Gungsuh"/>
                <a:ea typeface="Gungsuh"/>
              </a:rPr>
              <a:t>conc_ug_ml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 = ((absorbance + </a:t>
            </a:r>
            <a:r>
              <a:rPr lang="en-US" sz="800">
                <a:solidFill>
                  <a:srgbClr val="0070C0"/>
                </a:solidFill>
                <a:latin typeface="Gungsuh"/>
                <a:ea typeface="Gungsuh"/>
              </a:rPr>
              <a:t>0.0002667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) / </a:t>
            </a:r>
            <a:r>
              <a:rPr lang="en-US" sz="800">
                <a:solidFill>
                  <a:srgbClr val="0070C0"/>
                </a:solidFill>
                <a:latin typeface="Gungsuh"/>
                <a:ea typeface="Gungsuh"/>
              </a:rPr>
              <a:t>0.04478</a:t>
            </a: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) * dilution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/>
                <a:ea typeface="Gungsuh"/>
              </a:rPr>
              <a:t>        )</a:t>
            </a:r>
          </a:p>
          <a:p>
            <a:pPr>
              <a:lnSpc>
                <a:spcPct val="150000"/>
              </a:lnSpc>
            </a:pPr>
            <a:endParaRPr lang="en-US" sz="800">
              <a:solidFill>
                <a:srgbClr val="333333"/>
              </a:solidFill>
              <a:latin typeface="Gungsuh"/>
              <a:ea typeface="Gungsuh"/>
            </a:endParaRPr>
          </a:p>
          <a:p>
            <a:pPr>
              <a:lnSpc>
                <a:spcPct val="150000"/>
              </a:lnSpc>
            </a:pP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V_total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&lt;- </a:t>
            </a:r>
            <a:r>
              <a:rPr lang="en-US" sz="800">
                <a:solidFill>
                  <a:srgbClr val="0070C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900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# mL</a:t>
            </a:r>
          </a:p>
          <a:p>
            <a:pPr>
              <a:lnSpc>
                <a:spcPct val="150000"/>
              </a:lnSpc>
            </a:pP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V_sample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&lt;- </a:t>
            </a:r>
            <a:r>
              <a:rPr lang="en-US" sz="800">
                <a:solidFill>
                  <a:srgbClr val="0070C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5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# mL</a:t>
            </a:r>
          </a:p>
          <a:p>
            <a:pPr>
              <a:lnSpc>
                <a:spcPct val="150000"/>
              </a:lnSpc>
            </a:pP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dose_mg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&lt;- </a:t>
            </a:r>
            <a:r>
              <a:rPr lang="en-US" sz="800">
                <a:solidFill>
                  <a:srgbClr val="0070C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200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# change to your tablet </a:t>
            </a:r>
          </a:p>
          <a:p>
            <a:pPr>
              <a:lnSpc>
                <a:spcPct val="150000"/>
              </a:lnSpc>
            </a:pPr>
            <a:endParaRPr lang="en-US" sz="800">
              <a:solidFill>
                <a:srgbClr val="333333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strengthdata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&lt;- data 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%&gt;%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mutate(    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    </a:t>
            </a: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conc_mg_ml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= </a:t>
            </a: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conc_ug_ml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/ </a:t>
            </a:r>
            <a:r>
              <a:rPr lang="en-US" sz="800">
                <a:solidFill>
                  <a:srgbClr val="0070C0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1000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,         # µg → mg    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    </a:t>
            </a: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sample_mg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= </a:t>
            </a: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conc_mg_ml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* </a:t>
            </a:r>
            <a:r>
              <a:rPr lang="en-US" sz="800" err="1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V_sample</a:t>
            </a: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   </a:t>
            </a:r>
            <a:r>
              <a:rPr lang="en-US" sz="800">
                <a:solidFill>
                  <a:schemeClr val="tx1">
                    <a:lumMod val="75000"/>
                  </a:schemeClr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# mass removed each sample  </a:t>
            </a:r>
          </a:p>
          <a:p>
            <a:pPr>
              <a:lnSpc>
                <a:spcPct val="150000"/>
              </a:lnSpc>
            </a:pPr>
            <a:r>
              <a:rPr lang="en-US" sz="800">
                <a:solidFill>
                  <a:srgbClr val="33333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    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8429AC0-ED0D-FA47-411E-B94FDFB49149}"/>
              </a:ext>
            </a:extLst>
          </p:cNvPr>
          <p:cNvGrpSpPr/>
          <p:nvPr/>
        </p:nvGrpSpPr>
        <p:grpSpPr>
          <a:xfrm>
            <a:off x="6155293" y="2987675"/>
            <a:ext cx="455057" cy="3200400"/>
            <a:chOff x="5431393" y="3209925"/>
            <a:chExt cx="455057" cy="320040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D53E485-3ACE-8719-D813-4959DE78A05B}"/>
                </a:ext>
              </a:extLst>
            </p:cNvPr>
            <p:cNvCxnSpPr>
              <a:cxnSpLocks/>
            </p:cNvCxnSpPr>
            <p:nvPr/>
          </p:nvCxnSpPr>
          <p:spPr>
            <a:xfrm>
              <a:off x="5886450" y="3209925"/>
              <a:ext cx="0" cy="3200400"/>
            </a:xfrm>
            <a:prstGeom prst="straightConnector1">
              <a:avLst/>
            </a:prstGeom>
            <a:ln w="57150"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C6D20D-8A44-3B8C-2A42-A51234B6A740}"/>
                </a:ext>
              </a:extLst>
            </p:cNvPr>
            <p:cNvSpPr txBox="1"/>
            <p:nvPr/>
          </p:nvSpPr>
          <p:spPr>
            <a:xfrm rot="16200000">
              <a:off x="5026795" y="4625459"/>
              <a:ext cx="1178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/>
                <a:t>Run Code</a:t>
              </a:r>
            </a:p>
          </p:txBody>
        </p:sp>
      </p:grpSp>
      <p:pic>
        <p:nvPicPr>
          <p:cNvPr id="5" name="Content Placeholder 4" descr="Ladybug with solid fill">
            <a:extLst>
              <a:ext uri="{FF2B5EF4-FFF2-40B4-BE49-F238E27FC236}">
                <a16:creationId xmlns:a16="http://schemas.microsoft.com/office/drawing/2014/main" id="{3029424A-34D1-4F41-1FDB-53CC20B7C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276975" y="3331860"/>
            <a:ext cx="666750" cy="666750"/>
          </a:xfr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DCC116BF-FEF7-AEFC-4AA7-E90589653FDB}"/>
              </a:ext>
            </a:extLst>
          </p:cNvPr>
          <p:cNvGrpSpPr/>
          <p:nvPr/>
        </p:nvGrpSpPr>
        <p:grpSpPr>
          <a:xfrm>
            <a:off x="6209657" y="5105400"/>
            <a:ext cx="2172354" cy="801385"/>
            <a:chOff x="5485757" y="5327650"/>
            <a:chExt cx="2172354" cy="801385"/>
          </a:xfrm>
        </p:grpSpPr>
        <p:pic>
          <p:nvPicPr>
            <p:cNvPr id="15" name="Graphic 14" descr="Lightning bolt with solid fill">
              <a:extLst>
                <a:ext uri="{FF2B5EF4-FFF2-40B4-BE49-F238E27FC236}">
                  <a16:creationId xmlns:a16="http://schemas.microsoft.com/office/drawing/2014/main" id="{7358A0B2-540C-E945-35BA-FF47C2097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485757" y="5327650"/>
              <a:ext cx="801385" cy="80138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EDBADC-BFA3-A9A8-8C93-12F658DAE2D5}"/>
                </a:ext>
              </a:extLst>
            </p:cNvPr>
            <p:cNvSpPr txBox="1"/>
            <p:nvPr/>
          </p:nvSpPr>
          <p:spPr>
            <a:xfrm>
              <a:off x="6048375" y="5543676"/>
              <a:ext cx="1609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b="1">
                  <a:solidFill>
                    <a:schemeClr val="accent1"/>
                  </a:solidFill>
                </a:rPr>
                <a:t>Code </a:t>
              </a:r>
              <a:r>
                <a:rPr lang="da-DK" b="1" err="1">
                  <a:solidFill>
                    <a:schemeClr val="accent1"/>
                  </a:solidFill>
                </a:rPr>
                <a:t>crushes</a:t>
              </a:r>
              <a:endParaRPr lang="da-DK" b="1">
                <a:solidFill>
                  <a:schemeClr val="accent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948907F-9667-F848-FCDD-7FEFD44703F4}"/>
              </a:ext>
            </a:extLst>
          </p:cNvPr>
          <p:cNvSpPr txBox="1"/>
          <p:nvPr/>
        </p:nvSpPr>
        <p:spPr>
          <a:xfrm>
            <a:off x="6907682" y="3510950"/>
            <a:ext cx="266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err="1">
                <a:solidFill>
                  <a:schemeClr val="tx2"/>
                </a:solidFill>
              </a:rPr>
              <a:t>Some</a:t>
            </a:r>
            <a:r>
              <a:rPr lang="da-DK" b="1">
                <a:solidFill>
                  <a:schemeClr val="tx2"/>
                </a:solidFill>
              </a:rPr>
              <a:t> </a:t>
            </a:r>
            <a:r>
              <a:rPr lang="da-DK" b="1" err="1">
                <a:solidFill>
                  <a:schemeClr val="tx2"/>
                </a:solidFill>
              </a:rPr>
              <a:t>error</a:t>
            </a:r>
            <a:r>
              <a:rPr lang="da-DK" b="1">
                <a:solidFill>
                  <a:schemeClr val="tx2"/>
                </a:solidFill>
              </a:rPr>
              <a:t> in the </a:t>
            </a:r>
            <a:r>
              <a:rPr lang="da-DK" b="1" err="1">
                <a:solidFill>
                  <a:schemeClr val="tx2"/>
                </a:solidFill>
              </a:rPr>
              <a:t>code</a:t>
            </a:r>
            <a:endParaRPr lang="da-DK" b="1">
              <a:solidFill>
                <a:schemeClr val="tx2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22FB1E-4ADF-7914-5F16-4D321ADB5BB6}"/>
              </a:ext>
            </a:extLst>
          </p:cNvPr>
          <p:cNvGrpSpPr/>
          <p:nvPr/>
        </p:nvGrpSpPr>
        <p:grpSpPr>
          <a:xfrm>
            <a:off x="6524625" y="4767457"/>
            <a:ext cx="1479077" cy="369332"/>
            <a:chOff x="5800725" y="4989707"/>
            <a:chExt cx="1479077" cy="36933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86DCD38-CE1C-18D0-62B7-EEB8A0942DC2}"/>
                </a:ext>
              </a:extLst>
            </p:cNvPr>
            <p:cNvSpPr/>
            <p:nvPr/>
          </p:nvSpPr>
          <p:spPr>
            <a:xfrm>
              <a:off x="5800725" y="5060957"/>
              <a:ext cx="190493" cy="190493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79328D-A252-C80C-0D44-BEE82AA69E0D}"/>
                </a:ext>
              </a:extLst>
            </p:cNvPr>
            <p:cNvSpPr txBox="1"/>
            <p:nvPr/>
          </p:nvSpPr>
          <p:spPr>
            <a:xfrm>
              <a:off x="6048375" y="4989707"/>
              <a:ext cx="1231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b="1">
                  <a:solidFill>
                    <a:srgbClr val="C00000"/>
                  </a:solidFill>
                </a:rPr>
                <a:t>browser()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A03C541-3639-B194-93F6-42EC7E53D889}"/>
              </a:ext>
            </a:extLst>
          </p:cNvPr>
          <p:cNvGrpSpPr/>
          <p:nvPr/>
        </p:nvGrpSpPr>
        <p:grpSpPr>
          <a:xfrm>
            <a:off x="6361340" y="4177700"/>
            <a:ext cx="1130037" cy="997005"/>
            <a:chOff x="5637440" y="4399950"/>
            <a:chExt cx="1130037" cy="997005"/>
          </a:xfrm>
        </p:grpSpPr>
        <p:pic>
          <p:nvPicPr>
            <p:cNvPr id="23" name="Graphic 22" descr="Detective male outline">
              <a:extLst>
                <a:ext uri="{FF2B5EF4-FFF2-40B4-BE49-F238E27FC236}">
                  <a16:creationId xmlns:a16="http://schemas.microsoft.com/office/drawing/2014/main" id="{8258C563-89A1-5262-D9C1-A325E61DF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77057" y="4399950"/>
              <a:ext cx="590420" cy="590420"/>
            </a:xfrm>
            <a:prstGeom prst="rect">
              <a:avLst/>
            </a:prstGeom>
          </p:spPr>
        </p:pic>
        <p:pic>
          <p:nvPicPr>
            <p:cNvPr id="31" name="Graphic 30" descr="Magnifying glass outline">
              <a:extLst>
                <a:ext uri="{FF2B5EF4-FFF2-40B4-BE49-F238E27FC236}">
                  <a16:creationId xmlns:a16="http://schemas.microsoft.com/office/drawing/2014/main" id="{8DE8CFCC-4177-18CF-F0D0-ABB9CDCE2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6200000">
              <a:off x="5637440" y="4747253"/>
              <a:ext cx="649702" cy="649702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739C3E6-7A82-9509-B725-D3A6690FF9FD}"/>
              </a:ext>
            </a:extLst>
          </p:cNvPr>
          <p:cNvGrpSpPr/>
          <p:nvPr/>
        </p:nvGrpSpPr>
        <p:grpSpPr>
          <a:xfrm>
            <a:off x="8367669" y="5023656"/>
            <a:ext cx="467484" cy="667102"/>
            <a:chOff x="7643769" y="5245906"/>
            <a:chExt cx="467484" cy="667102"/>
          </a:xfrm>
        </p:grpSpPr>
        <p:pic>
          <p:nvPicPr>
            <p:cNvPr id="27" name="Graphic 26" descr="Surprised face outline with solid fill">
              <a:extLst>
                <a:ext uri="{FF2B5EF4-FFF2-40B4-BE49-F238E27FC236}">
                  <a16:creationId xmlns:a16="http://schemas.microsoft.com/office/drawing/2014/main" id="{983B335E-9DF2-2C1E-EF46-80953CC22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700571" y="5543676"/>
              <a:ext cx="369332" cy="369332"/>
            </a:xfrm>
            <a:prstGeom prst="rect">
              <a:avLst/>
            </a:prstGeom>
          </p:spPr>
        </p:pic>
        <p:pic>
          <p:nvPicPr>
            <p:cNvPr id="37" name="Graphic 36" descr="Question Mark with solid fill">
              <a:extLst>
                <a:ext uri="{FF2B5EF4-FFF2-40B4-BE49-F238E27FC236}">
                  <a16:creationId xmlns:a16="http://schemas.microsoft.com/office/drawing/2014/main" id="{32BA52DC-0ECA-84B5-BF73-42C08625A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952690">
              <a:off x="7809157" y="5245906"/>
              <a:ext cx="302096" cy="302096"/>
            </a:xfrm>
            <a:prstGeom prst="rect">
              <a:avLst/>
            </a:prstGeom>
          </p:spPr>
        </p:pic>
        <p:pic>
          <p:nvPicPr>
            <p:cNvPr id="38" name="Graphic 37" descr="Question Mark with solid fill">
              <a:extLst>
                <a:ext uri="{FF2B5EF4-FFF2-40B4-BE49-F238E27FC236}">
                  <a16:creationId xmlns:a16="http://schemas.microsoft.com/office/drawing/2014/main" id="{CB726F23-7D86-9822-DE60-561B2FFA4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20775499">
              <a:off x="7643769" y="5312332"/>
              <a:ext cx="272630" cy="27263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22067F-1039-E572-B0A3-646EF21B9710}"/>
              </a:ext>
            </a:extLst>
          </p:cNvPr>
          <p:cNvGrpSpPr/>
          <p:nvPr/>
        </p:nvGrpSpPr>
        <p:grpSpPr>
          <a:xfrm>
            <a:off x="7277101" y="3913025"/>
            <a:ext cx="4119433" cy="459807"/>
            <a:chOff x="7534276" y="4217825"/>
            <a:chExt cx="4119433" cy="459807"/>
          </a:xfrm>
        </p:grpSpPr>
        <p:sp>
          <p:nvSpPr>
            <p:cNvPr id="47" name="Speech Bubble: Oval 46">
              <a:extLst>
                <a:ext uri="{FF2B5EF4-FFF2-40B4-BE49-F238E27FC236}">
                  <a16:creationId xmlns:a16="http://schemas.microsoft.com/office/drawing/2014/main" id="{EFE03BA8-A2FB-EB2E-168C-C34CE503A0F4}"/>
                </a:ext>
              </a:extLst>
            </p:cNvPr>
            <p:cNvSpPr/>
            <p:nvPr/>
          </p:nvSpPr>
          <p:spPr>
            <a:xfrm>
              <a:off x="7534276" y="4217825"/>
              <a:ext cx="790510" cy="459807"/>
            </a:xfrm>
            <a:prstGeom prst="wedgeEllipseCallout">
              <a:avLst/>
            </a:prstGeom>
            <a:solidFill>
              <a:schemeClr val="bg1"/>
            </a:solidFill>
            <a:ln>
              <a:solidFill>
                <a:srgbClr val="3333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160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96E005D-6586-62A5-887F-9EB5E6139F02}"/>
                </a:ext>
              </a:extLst>
            </p:cNvPr>
            <p:cNvSpPr txBox="1"/>
            <p:nvPr/>
          </p:nvSpPr>
          <p:spPr>
            <a:xfrm>
              <a:off x="7732443" y="4290115"/>
              <a:ext cx="392126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a-DK" sz="1600" err="1">
                  <a:solidFill>
                    <a:schemeClr val="bg1">
                      <a:lumMod val="10000"/>
                    </a:schemeClr>
                  </a:solidFill>
                </a:rPr>
                <a:t>What</a:t>
              </a:r>
              <a:r>
                <a:rPr lang="da-DK" sz="1600">
                  <a:solidFill>
                    <a:schemeClr val="bg1">
                      <a:lumMod val="10000"/>
                    </a:schemeClr>
                  </a:solidFill>
                </a:rPr>
                <a:t> is </a:t>
              </a:r>
              <a:r>
                <a:rPr lang="da-DK" sz="1600" err="1">
                  <a:solidFill>
                    <a:schemeClr val="bg1">
                      <a:lumMod val="10000"/>
                    </a:schemeClr>
                  </a:solidFill>
                </a:rPr>
                <a:t>stored</a:t>
              </a:r>
              <a:r>
                <a:rPr lang="da-DK" sz="1600">
                  <a:solidFill>
                    <a:schemeClr val="bg1">
                      <a:lumMod val="10000"/>
                    </a:schemeClr>
                  </a:solidFill>
                </a:rPr>
                <a:t> in the variables right </a:t>
              </a:r>
              <a:r>
                <a:rPr lang="da-DK" sz="1600" err="1">
                  <a:solidFill>
                    <a:schemeClr val="bg1">
                      <a:lumMod val="10000"/>
                    </a:schemeClr>
                  </a:solidFill>
                </a:rPr>
                <a:t>now</a:t>
              </a:r>
              <a:r>
                <a:rPr lang="da-DK" sz="1600">
                  <a:solidFill>
                    <a:schemeClr val="bg1">
                      <a:lumMod val="1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3BAF9FE-1802-B149-3254-0015454FA63B}"/>
              </a:ext>
            </a:extLst>
          </p:cNvPr>
          <p:cNvSpPr/>
          <p:nvPr/>
        </p:nvSpPr>
        <p:spPr>
          <a:xfrm>
            <a:off x="838200" y="2625159"/>
            <a:ext cx="4485402" cy="2436443"/>
          </a:xfrm>
          <a:prstGeom prst="roundRect">
            <a:avLst>
              <a:gd name="adj" fmla="val 7738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r>
              <a:rPr lang="en-US" sz="1600">
                <a:solidFill>
                  <a:schemeClr val="accent6"/>
                </a:solidFill>
              </a:rPr>
              <a:t>To </a:t>
            </a:r>
            <a:r>
              <a:rPr lang="en-US" sz="1600" b="1">
                <a:solidFill>
                  <a:schemeClr val="accent6"/>
                </a:solidFill>
              </a:rPr>
              <a:t>continue execution</a:t>
            </a:r>
            <a:r>
              <a:rPr lang="en-US" sz="1600">
                <a:solidFill>
                  <a:schemeClr val="accent6"/>
                </a:solidFill>
              </a:rPr>
              <a:t> from where you paused, you can type in the console:</a:t>
            </a:r>
          </a:p>
          <a:p>
            <a:endParaRPr lang="en-US" sz="1600">
              <a:solidFill>
                <a:schemeClr val="accent6"/>
              </a:solidFill>
            </a:endParaRPr>
          </a:p>
          <a:p>
            <a:r>
              <a:rPr lang="en-US" sz="1600" b="1">
                <a:solidFill>
                  <a:schemeClr val="accent6"/>
                </a:solidFill>
              </a:rPr>
              <a:t>c</a:t>
            </a:r>
            <a:r>
              <a:rPr lang="en-US" sz="1600">
                <a:solidFill>
                  <a:schemeClr val="accent6"/>
                </a:solidFill>
              </a:rPr>
              <a:t> → Continue running the function until the next breakpoint or until it finishes.</a:t>
            </a:r>
          </a:p>
          <a:p>
            <a:r>
              <a:rPr lang="en-US" sz="1600" b="1">
                <a:solidFill>
                  <a:schemeClr val="accent6"/>
                </a:solidFill>
              </a:rPr>
              <a:t>n</a:t>
            </a:r>
            <a:r>
              <a:rPr lang="en-US" sz="1600">
                <a:solidFill>
                  <a:schemeClr val="accent6"/>
                </a:solidFill>
              </a:rPr>
              <a:t> → Execute the next statement (step over).</a:t>
            </a:r>
          </a:p>
          <a:p>
            <a:r>
              <a:rPr lang="en-US" sz="1600" b="1">
                <a:solidFill>
                  <a:schemeClr val="accent6"/>
                </a:solidFill>
              </a:rPr>
              <a:t>s</a:t>
            </a:r>
            <a:r>
              <a:rPr lang="en-US" sz="1600">
                <a:solidFill>
                  <a:schemeClr val="accent6"/>
                </a:solidFill>
              </a:rPr>
              <a:t> → Step into the next function call.</a:t>
            </a:r>
          </a:p>
          <a:p>
            <a:r>
              <a:rPr lang="en-US" sz="1600" b="1">
                <a:solidFill>
                  <a:schemeClr val="accent6"/>
                </a:solidFill>
              </a:rPr>
              <a:t>Q</a:t>
            </a:r>
            <a:r>
              <a:rPr lang="en-US" sz="1600">
                <a:solidFill>
                  <a:schemeClr val="accent6"/>
                </a:solidFill>
              </a:rPr>
              <a:t> → Quit debugging and return to the top-level prompt.</a:t>
            </a:r>
          </a:p>
        </p:txBody>
      </p:sp>
    </p:spTree>
    <p:extLst>
      <p:ext uri="{BB962C8B-B14F-4D97-AF65-F5344CB8AC3E}">
        <p14:creationId xmlns:p14="http://schemas.microsoft.com/office/powerpoint/2010/main" val="74905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" grpId="0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6FFA-6F73-C0AD-1E0D-557256F7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Try it </a:t>
            </a:r>
            <a:r>
              <a:rPr lang="da-DK" err="1"/>
              <a:t>yourself</a:t>
            </a:r>
            <a:r>
              <a:rPr lang="da-DK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7C83-9242-EE8B-7207-3EA488429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da-DK" sz="4400" dirty="0"/>
              <a:t>github.com/</a:t>
            </a:r>
            <a:r>
              <a:rPr lang="da-DK" sz="4400" dirty="0">
                <a:solidFill>
                  <a:schemeClr val="tx2"/>
                </a:solidFill>
              </a:rPr>
              <a:t>CPDSE-EDUX</a:t>
            </a:r>
            <a:r>
              <a:rPr lang="da-DK" sz="4400" dirty="0"/>
              <a:t>/</a:t>
            </a:r>
            <a:r>
              <a:rPr lang="da-DK" sz="4400" dirty="0">
                <a:solidFill>
                  <a:schemeClr val="accent3">
                    <a:lumMod val="50000"/>
                  </a:schemeClr>
                </a:solidFill>
              </a:rPr>
              <a:t>SDU-</a:t>
            </a:r>
            <a:r>
              <a:rPr lang="da-DK" sz="4400" dirty="0" err="1">
                <a:solidFill>
                  <a:schemeClr val="accent3">
                    <a:lumMod val="50000"/>
                  </a:schemeClr>
                </a:solidFill>
              </a:rPr>
              <a:t>CodeClub</a:t>
            </a:r>
            <a:endParaRPr lang="da-DK" sz="4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48416"/>
      </p:ext>
    </p:extLst>
  </p:cSld>
  <p:clrMapOvr>
    <a:masterClrMapping/>
  </p:clrMapOvr>
</p:sld>
</file>

<file path=ppt/theme/theme1.xml><?xml version="1.0" encoding="utf-8"?>
<a:theme xmlns:a="http://schemas.openxmlformats.org/drawingml/2006/main" name="1_CPDSE_SoftWhite">
  <a:themeElements>
    <a:clrScheme name="CPDSE">
      <a:dk1>
        <a:srgbClr val="A9BBAA"/>
      </a:dk1>
      <a:lt1>
        <a:srgbClr val="F9F9F9"/>
      </a:lt1>
      <a:dk2>
        <a:srgbClr val="5F7D61"/>
      </a:dk2>
      <a:lt2>
        <a:srgbClr val="E7E6E6"/>
      </a:lt2>
      <a:accent1>
        <a:srgbClr val="D6C17C"/>
      </a:accent1>
      <a:accent2>
        <a:srgbClr val="E4D7A1"/>
      </a:accent2>
      <a:accent3>
        <a:srgbClr val="F6F1DC"/>
      </a:accent3>
      <a:accent4>
        <a:srgbClr val="333333"/>
      </a:accent4>
      <a:accent5>
        <a:srgbClr val="3C5E3E"/>
      </a:accent5>
      <a:accent6>
        <a:srgbClr val="333333"/>
      </a:accent6>
      <a:hlink>
        <a:srgbClr val="333333"/>
      </a:hlink>
      <a:folHlink>
        <a:srgbClr val="333333"/>
      </a:folHlink>
    </a:clrScheme>
    <a:fontScheme name="Custom 1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PDSE_SoftWhite">
  <a:themeElements>
    <a:clrScheme name="CPDSE">
      <a:dk1>
        <a:srgbClr val="A9BBAA"/>
      </a:dk1>
      <a:lt1>
        <a:srgbClr val="F9F9F9"/>
      </a:lt1>
      <a:dk2>
        <a:srgbClr val="5F7D61"/>
      </a:dk2>
      <a:lt2>
        <a:srgbClr val="E7E6E6"/>
      </a:lt2>
      <a:accent1>
        <a:srgbClr val="D6C17C"/>
      </a:accent1>
      <a:accent2>
        <a:srgbClr val="E4D7A1"/>
      </a:accent2>
      <a:accent3>
        <a:srgbClr val="F6F1DC"/>
      </a:accent3>
      <a:accent4>
        <a:srgbClr val="333333"/>
      </a:accent4>
      <a:accent5>
        <a:srgbClr val="3C5E3E"/>
      </a:accent5>
      <a:accent6>
        <a:srgbClr val="333333"/>
      </a:accent6>
      <a:hlink>
        <a:srgbClr val="333333"/>
      </a:hlink>
      <a:folHlink>
        <a:srgbClr val="333333"/>
      </a:folHlink>
    </a:clrScheme>
    <a:fontScheme name="Custom 1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PDSE_IvoryGoldTint">
  <a:themeElements>
    <a:clrScheme name="CPDSE">
      <a:dk1>
        <a:srgbClr val="A9BBAA"/>
      </a:dk1>
      <a:lt1>
        <a:srgbClr val="F9F9F9"/>
      </a:lt1>
      <a:dk2>
        <a:srgbClr val="5F7D61"/>
      </a:dk2>
      <a:lt2>
        <a:srgbClr val="E7E6E6"/>
      </a:lt2>
      <a:accent1>
        <a:srgbClr val="D6C17C"/>
      </a:accent1>
      <a:accent2>
        <a:srgbClr val="E4D7A1"/>
      </a:accent2>
      <a:accent3>
        <a:srgbClr val="F6F1DC"/>
      </a:accent3>
      <a:accent4>
        <a:srgbClr val="333333"/>
      </a:accent4>
      <a:accent5>
        <a:srgbClr val="3C5E3E"/>
      </a:accent5>
      <a:accent6>
        <a:srgbClr val="333333"/>
      </a:accent6>
      <a:hlink>
        <a:srgbClr val="333333"/>
      </a:hlink>
      <a:folHlink>
        <a:srgbClr val="333333"/>
      </a:folHlink>
    </a:clrScheme>
    <a:fontScheme name="Custom 1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27054976F143478B945C4DC57DF023" ma:contentTypeVersion="13" ma:contentTypeDescription="Create a new document." ma:contentTypeScope="" ma:versionID="89dbde675f3c6158cb39ecc00401ccbb">
  <xsd:schema xmlns:xsd="http://www.w3.org/2001/XMLSchema" xmlns:xs="http://www.w3.org/2001/XMLSchema" xmlns:p="http://schemas.microsoft.com/office/2006/metadata/properties" xmlns:ns2="2bc4d9de-87a7-40cc-8fcf-7450ce21fef5" xmlns:ns3="b6778c44-26f5-4aea-8f0b-e2e010d37707" targetNamespace="http://schemas.microsoft.com/office/2006/metadata/properties" ma:root="true" ma:fieldsID="24495de3110c2cd3819cb11d4084143c" ns2:_="" ns3:_="">
    <xsd:import namespace="2bc4d9de-87a7-40cc-8fcf-7450ce21fef5"/>
    <xsd:import namespace="b6778c44-26f5-4aea-8f0b-e2e010d377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c4d9de-87a7-40cc-8fcf-7450ce21fe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d5578fd-35c2-4d8f-a1bf-4043a6e4e7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78c44-26f5-4aea-8f0b-e2e010d3770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7e41bc-80b6-4e48-bdea-ed3b6a92c331}" ma:internalName="TaxCatchAll" ma:showField="CatchAllData" ma:web="b6778c44-26f5-4aea-8f0b-e2e010d377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c4d9de-87a7-40cc-8fcf-7450ce21fef5">
      <Terms xmlns="http://schemas.microsoft.com/office/infopath/2007/PartnerControls"/>
    </lcf76f155ced4ddcb4097134ff3c332f>
    <TaxCatchAll xmlns="b6778c44-26f5-4aea-8f0b-e2e010d37707" xsi:nil="true"/>
  </documentManagement>
</p:properties>
</file>

<file path=customXml/itemProps1.xml><?xml version="1.0" encoding="utf-8"?>
<ds:datastoreItem xmlns:ds="http://schemas.openxmlformats.org/officeDocument/2006/customXml" ds:itemID="{164E7D84-246D-47E2-AE9D-9D4B028DF6E8}">
  <ds:schemaRefs>
    <ds:schemaRef ds:uri="2bc4d9de-87a7-40cc-8fcf-7450ce21fef5"/>
    <ds:schemaRef ds:uri="b6778c44-26f5-4aea-8f0b-e2e010d377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02AF83-CB05-4ECB-8446-5264CEB014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E504B4-A7BA-4AA0-8DB9-42C8939D58C1}">
  <ds:schemaRefs>
    <ds:schemaRef ds:uri="2bc4d9de-87a7-40cc-8fcf-7450ce21fef5"/>
    <ds:schemaRef ds:uri="b6778c44-26f5-4aea-8f0b-e2e010d3770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3927f91-cda1-4696-af89-8c9f1ceffa91}" enabled="0" method="" siteId="{a3927f91-cda1-4696-af89-8c9f1ceffa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Microsoft Office PowerPoint</Application>
  <PresentationFormat>Widescreen</PresentationFormat>
  <Paragraphs>194</Paragraphs>
  <Slides>14</Slides>
  <Notes>11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11</vt:i4>
      </vt:variant>
      <vt:variant>
        <vt:lpstr>Tema</vt:lpstr>
      </vt:variant>
      <vt:variant>
        <vt:i4>3</vt:i4>
      </vt:variant>
      <vt:variant>
        <vt:lpstr>Slidetitler</vt:lpstr>
      </vt:variant>
      <vt:variant>
        <vt:i4>14</vt:i4>
      </vt:variant>
    </vt:vector>
  </HeadingPairs>
  <TitlesOfParts>
    <vt:vector size="28" baseType="lpstr">
      <vt:lpstr>Gungsuh</vt:lpstr>
      <vt:lpstr>Gungsuh</vt:lpstr>
      <vt:lpstr>Aptos</vt:lpstr>
      <vt:lpstr>Arial</vt:lpstr>
      <vt:lpstr>Arial,Sans-Serif</vt:lpstr>
      <vt:lpstr>Calibri</vt:lpstr>
      <vt:lpstr>Cambria Math</vt:lpstr>
      <vt:lpstr>Courier New</vt:lpstr>
      <vt:lpstr>Microsoft New Tai Lue</vt:lpstr>
      <vt:lpstr>Verdana</vt:lpstr>
      <vt:lpstr>Wingdings</vt:lpstr>
      <vt:lpstr>1_CPDSE_SoftWhite</vt:lpstr>
      <vt:lpstr>CPDSE_SoftWhite</vt:lpstr>
      <vt:lpstr>CPDSE_IvoryGoldTint</vt:lpstr>
      <vt:lpstr>Pharma Code Club</vt:lpstr>
      <vt:lpstr>Pharma is full of data, but not of data science.  We are here to change that</vt:lpstr>
      <vt:lpstr>Who is involved in CPDSE?</vt:lpstr>
      <vt:lpstr>What is a Programming Language?</vt:lpstr>
      <vt:lpstr>What is Data Science?</vt:lpstr>
      <vt:lpstr>Why Coding in Pharma?</vt:lpstr>
      <vt:lpstr>What is an IDE?</vt:lpstr>
      <vt:lpstr>Variables &amp; Functions</vt:lpstr>
      <vt:lpstr>Variables &lt;- data</vt:lpstr>
      <vt:lpstr>Functions(argument1, argument2)</vt:lpstr>
      <vt:lpstr>Libraries and Preexisting Functions</vt:lpstr>
      <vt:lpstr>Inspect Errors</vt:lpstr>
      <vt:lpstr>Debugging with browser()</vt:lpstr>
      <vt:lpstr>Try it yourself?</vt:lpstr>
    </vt:vector>
  </TitlesOfParts>
  <Company>University of Copenhagen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Stine Marie Jensen</dc:creator>
  <cp:lastModifiedBy>Sebastian Jakobsen</cp:lastModifiedBy>
  <cp:revision>4</cp:revision>
  <dcterms:created xsi:type="dcterms:W3CDTF">2025-09-09T11:47:24Z</dcterms:created>
  <dcterms:modified xsi:type="dcterms:W3CDTF">2026-03-18T13:48:39Z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0x010100CE27054976F143478B945C4DC57DF023</vt:lpwstr>
  </property>
  <property fmtid="{D5CDD505-2E9C-101B-9397-08002B2CF9AE}" pid="3" name="MediaServiceImageTags">
    <vt:lpwstr/>
  </property>
</Properties>
</file>