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9C141F-6385-4975-9673-F4B537E8A90B}" v="64" dt="2026-05-20T05:01:02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772" autoAdjust="0"/>
  </p:normalViewPr>
  <p:slideViewPr>
    <p:cSldViewPr snapToGrid="0">
      <p:cViewPr varScale="1">
        <p:scale>
          <a:sx n="93" d="100"/>
          <a:sy n="93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Jakobsen" userId="5b2ac7fb-a084-4b72-bf40-b83b05c9d5cb" providerId="ADAL" clId="{8F9BB3C3-03E5-41AD-9853-F96CC4D1A4FF}"/>
    <pc:docChg chg="custSel modSld">
      <pc:chgData name="Sebastian Jakobsen" userId="5b2ac7fb-a084-4b72-bf40-b83b05c9d5cb" providerId="ADAL" clId="{8F9BB3C3-03E5-41AD-9853-F96CC4D1A4FF}" dt="2026-05-20T05:35:21.165" v="326" actId="1076"/>
      <pc:docMkLst>
        <pc:docMk/>
      </pc:docMkLst>
      <pc:sldChg chg="modSp mod">
        <pc:chgData name="Sebastian Jakobsen" userId="5b2ac7fb-a084-4b72-bf40-b83b05c9d5cb" providerId="ADAL" clId="{8F9BB3C3-03E5-41AD-9853-F96CC4D1A4FF}" dt="2026-05-20T05:35:21.165" v="326" actId="1076"/>
        <pc:sldMkLst>
          <pc:docMk/>
          <pc:sldMk cId="4123474006" sldId="259"/>
        </pc:sldMkLst>
        <pc:picChg chg="mod">
          <ac:chgData name="Sebastian Jakobsen" userId="5b2ac7fb-a084-4b72-bf40-b83b05c9d5cb" providerId="ADAL" clId="{8F9BB3C3-03E5-41AD-9853-F96CC4D1A4FF}" dt="2026-05-20T05:35:21.165" v="326" actId="1076"/>
          <ac:picMkLst>
            <pc:docMk/>
            <pc:sldMk cId="4123474006" sldId="259"/>
            <ac:picMk id="6" creationId="{E5D7CAEB-177F-B214-DAE1-6D642370728D}"/>
          </ac:picMkLst>
        </pc:picChg>
      </pc:sldChg>
      <pc:sldChg chg="addSp modSp mod">
        <pc:chgData name="Sebastian Jakobsen" userId="5b2ac7fb-a084-4b72-bf40-b83b05c9d5cb" providerId="ADAL" clId="{8F9BB3C3-03E5-41AD-9853-F96CC4D1A4FF}" dt="2026-05-20T04:56:54.121" v="308" actId="1076"/>
        <pc:sldMkLst>
          <pc:docMk/>
          <pc:sldMk cId="2973839011" sldId="260"/>
        </pc:sldMkLst>
        <pc:spChg chg="mod">
          <ac:chgData name="Sebastian Jakobsen" userId="5b2ac7fb-a084-4b72-bf40-b83b05c9d5cb" providerId="ADAL" clId="{8F9BB3C3-03E5-41AD-9853-F96CC4D1A4FF}" dt="2026-05-20T04:55:57.683" v="299" actId="21"/>
          <ac:spMkLst>
            <pc:docMk/>
            <pc:sldMk cId="2973839011" sldId="260"/>
            <ac:spMk id="3" creationId="{553A445D-83B6-9D2A-A290-D23E381EA7D0}"/>
          </ac:spMkLst>
        </pc:spChg>
        <pc:spChg chg="add mod">
          <ac:chgData name="Sebastian Jakobsen" userId="5b2ac7fb-a084-4b72-bf40-b83b05c9d5cb" providerId="ADAL" clId="{8F9BB3C3-03E5-41AD-9853-F96CC4D1A4FF}" dt="2026-05-20T04:56:54.121" v="308" actId="1076"/>
          <ac:spMkLst>
            <pc:docMk/>
            <pc:sldMk cId="2973839011" sldId="260"/>
            <ac:spMk id="5" creationId="{34D46A77-7BE9-6A67-EBAE-C8E6DE1AD7BF}"/>
          </ac:spMkLst>
        </pc:spChg>
        <pc:picChg chg="mod">
          <ac:chgData name="Sebastian Jakobsen" userId="5b2ac7fb-a084-4b72-bf40-b83b05c9d5cb" providerId="ADAL" clId="{8F9BB3C3-03E5-41AD-9853-F96CC4D1A4FF}" dt="2026-05-20T04:56:51.609" v="307" actId="1076"/>
          <ac:picMkLst>
            <pc:docMk/>
            <pc:sldMk cId="2973839011" sldId="260"/>
            <ac:picMk id="7" creationId="{D899932A-3CB1-6305-8C2E-481B421BD99A}"/>
          </ac:picMkLst>
        </pc:picChg>
      </pc:sldChg>
      <pc:sldChg chg="addSp delSp modSp mod modNotesTx">
        <pc:chgData name="Sebastian Jakobsen" userId="5b2ac7fb-a084-4b72-bf40-b83b05c9d5cb" providerId="ADAL" clId="{8F9BB3C3-03E5-41AD-9853-F96CC4D1A4FF}" dt="2026-05-20T05:02:10.281" v="324" actId="15"/>
        <pc:sldMkLst>
          <pc:docMk/>
          <pc:sldMk cId="2646872797" sldId="262"/>
        </pc:sldMkLst>
        <pc:spChg chg="mod">
          <ac:chgData name="Sebastian Jakobsen" userId="5b2ac7fb-a084-4b72-bf40-b83b05c9d5cb" providerId="ADAL" clId="{8F9BB3C3-03E5-41AD-9853-F96CC4D1A4FF}" dt="2026-05-20T05:02:10.281" v="324" actId="15"/>
          <ac:spMkLst>
            <pc:docMk/>
            <pc:sldMk cId="2646872797" sldId="262"/>
            <ac:spMk id="3" creationId="{91323E38-DB26-20CB-B3E3-D2068B8592CA}"/>
          </ac:spMkLst>
        </pc:spChg>
        <pc:spChg chg="add">
          <ac:chgData name="Sebastian Jakobsen" userId="5b2ac7fb-a084-4b72-bf40-b83b05c9d5cb" providerId="ADAL" clId="{8F9BB3C3-03E5-41AD-9853-F96CC4D1A4FF}" dt="2026-05-20T05:00:27.799" v="310"/>
          <ac:spMkLst>
            <pc:docMk/>
            <pc:sldMk cId="2646872797" sldId="262"/>
            <ac:spMk id="4" creationId="{676D62BE-3A91-197B-C57F-61B09424FCAC}"/>
          </ac:spMkLst>
        </pc:spChg>
        <pc:picChg chg="del">
          <ac:chgData name="Sebastian Jakobsen" userId="5b2ac7fb-a084-4b72-bf40-b83b05c9d5cb" providerId="ADAL" clId="{8F9BB3C3-03E5-41AD-9853-F96CC4D1A4FF}" dt="2026-05-20T05:00:27.176" v="309" actId="478"/>
          <ac:picMkLst>
            <pc:docMk/>
            <pc:sldMk cId="2646872797" sldId="262"/>
            <ac:picMk id="6" creationId="{D5C08364-C8E0-2119-D626-7A8ED2A4314D}"/>
          </ac:picMkLst>
        </pc:picChg>
        <pc:picChg chg="add mod">
          <ac:chgData name="Sebastian Jakobsen" userId="5b2ac7fb-a084-4b72-bf40-b83b05c9d5cb" providerId="ADAL" clId="{8F9BB3C3-03E5-41AD-9853-F96CC4D1A4FF}" dt="2026-05-20T05:00:50.638" v="316" actId="1076"/>
          <ac:picMkLst>
            <pc:docMk/>
            <pc:sldMk cId="2646872797" sldId="262"/>
            <ac:picMk id="7" creationId="{911BEF60-E8F9-4A9D-5B06-E424286DF66D}"/>
          </ac:picMkLst>
        </pc:picChg>
        <pc:picChg chg="add mod">
          <ac:chgData name="Sebastian Jakobsen" userId="5b2ac7fb-a084-4b72-bf40-b83b05c9d5cb" providerId="ADAL" clId="{8F9BB3C3-03E5-41AD-9853-F96CC4D1A4FF}" dt="2026-05-20T05:01:02.764" v="320" actId="1076"/>
          <ac:picMkLst>
            <pc:docMk/>
            <pc:sldMk cId="2646872797" sldId="262"/>
            <ac:picMk id="1028" creationId="{AAF1FCF2-26DD-5783-C201-54CC8AB080C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219D78-BABB-4127-892A-4AEB84803CA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F9D24-65DC-443B-B25E-D55D3BC0EAA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53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F9D24-65DC-443B-B25E-D55D3BC0EA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40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Tukey’s Honestly Significant Difference (HSD)</a:t>
            </a:r>
          </a:p>
          <a:p>
            <a:r>
              <a:rPr lang="en-US" dirty="0"/>
              <a:t>We need to adjust for multiple comparisons – with alpha = 0.05 (5% false positive rate) our chances increase with the number of pairs. 4 groups -&gt; 6 pairs -&gt; increasing the chance from 5% -&gt; 26.5%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F9D24-65DC-443B-B25E-D55D3BC0EA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41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1E9DDA-FD65-7FD7-377C-2DA725550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79ACB09-14C5-C906-4CF8-F596D5D17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612BD44-F034-4F0C-3E16-B3A4982B3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30FF-2020-4D27-BF94-5EDC18428E7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ACCF96E-9349-E160-20AA-9165F81EC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1702902-734C-1562-CC32-D7522F799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CE15-36A0-4CE4-9BDE-E2E667CBDB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1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729328-1ACF-F119-313C-9D58FC018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5268089-6D16-08B8-B4D9-FFC33447D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B7B9A5A-A600-F3D3-A083-E0036759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30FF-2020-4D27-BF94-5EDC18428E7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DBA87DA-6F5C-5CD2-CD80-875A6624B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F286F35-7FB7-6928-B162-12C922BBA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CE15-36A0-4CE4-9BDE-E2E667CBDB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0713F1-907F-8719-62A1-E1B07F5CE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7BECABC-AD11-C15D-3E2E-C1E6662DF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7283FE0-0CC0-39EF-9969-F6E0D6AF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30FF-2020-4D27-BF94-5EDC18428E7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3BB3162-46F1-9DAE-6133-EE543F00A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1A98DEE-27B6-0119-2608-DBD98084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CE15-36A0-4CE4-9BDE-E2E667CBDB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24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2ECE2F-5AC0-2026-03D8-C13DEFF65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BFE6456-9660-482B-9C69-7628621FDF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9756738-85F7-5E42-1F06-4832D2EC4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14DE721-B7E8-EAFF-A43E-6A952068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30FF-2020-4D27-BF94-5EDC18428E7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72E3DCE-EBB8-F828-5656-495D0471C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06BE34F-D372-4552-E3B9-0F8C8CDD7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CE15-36A0-4CE4-9BDE-E2E667CBDB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4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01C1E1-0175-9B8B-B35D-4826BE266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A1BDAB7-E03D-3DBE-00DE-36AA606E1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6F19C87-FAAE-4FCD-394B-DD189D8E7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EFAE36C8-6AA1-681D-5B20-D91063D98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8194E0E6-4DA5-4188-FF36-99F007637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BD1DC63F-70C3-E731-F185-520E5D026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30FF-2020-4D27-BF94-5EDC18428E7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3480C552-ADAD-8A34-0F34-CE90F7A1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0526A420-80EE-3B5B-3026-2DF66A80F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CE15-36A0-4CE4-9BDE-E2E667CBDB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70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92F7A9-13AC-0F61-2D36-40A542B66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06C82EB1-7912-9A1E-CE49-92E44E64E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30FF-2020-4D27-BF94-5EDC18428E7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76DDB83-4220-A715-D57C-719D227F1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6BAE1D25-4379-AE94-5EE8-101E88C3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CE15-36A0-4CE4-9BDE-E2E667CBDB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19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511B80FE-14CE-D3B4-6060-0EBEB83CA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30FF-2020-4D27-BF94-5EDC18428E7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4B007617-A70D-4222-2A6E-714D0102A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56F4722-8D74-47C1-2871-2D50C3D91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CE15-36A0-4CE4-9BDE-E2E667CBDB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9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D4BAC-8990-B663-3DFB-1BD7FA3E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8BCD99C-6F92-8AD0-8E5D-BF59A9339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4842E550-F9EB-CCCE-A636-BF4924E04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F89AC04-1ECA-7DCC-B008-F47919C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30FF-2020-4D27-BF94-5EDC18428E7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111126F-7EF3-A6EA-1EDB-6EB7436B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650850E-DC8D-71D1-AD21-2715EC82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CE15-36A0-4CE4-9BDE-E2E667CBDB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61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9A7BF4-4291-688A-A802-CB976E20A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1BAFF75B-AAE1-8B58-8C31-9CF86628C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8772578-DEE5-E31C-9AE3-7DC19CF20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C4D5B3E-D5B2-CA2B-FBDA-E7913E7BF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30FF-2020-4D27-BF94-5EDC18428E7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7DA9404-F9D0-34D3-03FF-94D400A2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5015BF6-5943-F2CC-F467-6472339D5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CE15-36A0-4CE4-9BDE-E2E667CBDB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37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28AF33-4E49-299F-49CC-A91A3654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2BAFF9AC-F80E-202A-6516-30D3EC30E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74A2E73-A472-8B8E-8376-E11EB1C97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30FF-2020-4D27-BF94-5EDC18428E7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7995B6A-D349-4B9F-7DBD-B228F85C4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B696E10-89A9-F130-C5ED-BDDB5A962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CE15-36A0-4CE4-9BDE-E2E667CBDB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05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C8ABB9E1-AE9C-08BD-298F-35080507B1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2AB8F45F-245B-D65D-056C-DA0333DA8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1BDE693-7AB5-28E4-72EB-D4540E315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30FF-2020-4D27-BF94-5EDC18428E7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B9A7F5D-511D-9B61-A132-E1A54A4A2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3371E26-6830-F57A-E667-CCE060C01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CE15-36A0-4CE4-9BDE-E2E667CBDB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40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EAB184FA-27D5-54B6-46B7-E5F029B2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A37762B-666A-9212-8910-06062F2FF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1E6108D-F217-028C-FDA3-CA1B58844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830FF-2020-4D27-BF94-5EDC18428E7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5B425A8-1E2B-0AAA-67DA-CEB884EF0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E13F872-DBC4-6811-0C24-DCD26B889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ACE15-36A0-4CE4-9BDE-E2E667CBDB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0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2C92BB-2E14-647C-9744-C5215EA86E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Code Club 4</a:t>
            </a:r>
            <a:endParaRPr lang="en-US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27D3AD72-7E35-E7AA-2ED7-4A410680BD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u="sng" dirty="0" err="1"/>
              <a:t>Hypothesis</a:t>
            </a:r>
            <a:r>
              <a:rPr lang="da-DK" u="sng" dirty="0"/>
              <a:t> </a:t>
            </a:r>
            <a:r>
              <a:rPr lang="da-DK" u="sng" dirty="0" err="1"/>
              <a:t>testing</a:t>
            </a:r>
            <a:r>
              <a:rPr lang="da-DK" u="sng" dirty="0"/>
              <a:t> in R</a:t>
            </a:r>
          </a:p>
          <a:p>
            <a:r>
              <a:rPr lang="da-DK" dirty="0"/>
              <a:t>t-Tests and ANOVA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387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6AEACEE-9612-AF55-1CBC-7BBBA448B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53" y="76314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Why Do We Need Hypothesis Testing?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C2A1D29-2CDE-291F-BA88-850DFE32D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553" y="2252717"/>
            <a:ext cx="5428180" cy="3917773"/>
          </a:xfrm>
        </p:spPr>
        <p:txBody>
          <a:bodyPr>
            <a:normAutofit/>
          </a:bodyPr>
          <a:lstStyle/>
          <a:p>
            <a:r>
              <a:rPr lang="en-US" sz="2000" dirty="0"/>
              <a:t>We observe differences in data all the time — but are they real or just random noise?</a:t>
            </a:r>
          </a:p>
          <a:p>
            <a:r>
              <a:rPr lang="en-US" sz="2000" dirty="0"/>
              <a:t>Examples: </a:t>
            </a:r>
          </a:p>
          <a:p>
            <a:pPr lvl="1"/>
            <a:r>
              <a:rPr lang="en-US" sz="2000" dirty="0"/>
              <a:t>Does this batch of tablets contain 200mg of ibuprofen? </a:t>
            </a:r>
          </a:p>
          <a:p>
            <a:pPr lvl="1"/>
            <a:r>
              <a:rPr lang="en-US" sz="2000" dirty="0"/>
              <a:t>Does this drug lower blood pressure? </a:t>
            </a:r>
          </a:p>
          <a:p>
            <a:pPr lvl="1"/>
            <a:r>
              <a:rPr lang="en-US" sz="2000" dirty="0"/>
              <a:t>Does formulation type affect dissolution?</a:t>
            </a:r>
          </a:p>
          <a:p>
            <a:r>
              <a:rPr lang="en-US" sz="2000" b="1" dirty="0"/>
              <a:t>Goal: </a:t>
            </a:r>
            <a:r>
              <a:rPr lang="en-US" sz="2000" dirty="0"/>
              <a:t>make principled decisions from samples, when measuring the whole population is not feasible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7" name="Gruppe 16">
            <a:extLst>
              <a:ext uri="{FF2B5EF4-FFF2-40B4-BE49-F238E27FC236}">
                <a16:creationId xmlns:a16="http://schemas.microsoft.com/office/drawing/2014/main" id="{A1AF6AE9-D2D1-2A55-362E-D021A2567107}"/>
              </a:ext>
            </a:extLst>
          </p:cNvPr>
          <p:cNvGrpSpPr/>
          <p:nvPr/>
        </p:nvGrpSpPr>
        <p:grpSpPr>
          <a:xfrm>
            <a:off x="6096000" y="1561672"/>
            <a:ext cx="5082075" cy="4256079"/>
            <a:chOff x="6688931" y="1143000"/>
            <a:chExt cx="5298281" cy="481965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41527FAF-0431-73FC-FAAA-E9196FAA1CC0}"/>
                </a:ext>
              </a:extLst>
            </p:cNvPr>
            <p:cNvSpPr/>
            <p:nvPr/>
          </p:nvSpPr>
          <p:spPr>
            <a:xfrm>
              <a:off x="6688931" y="1143000"/>
              <a:ext cx="3848100" cy="31337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04088">
                <a:spcAft>
                  <a:spcPts val="600"/>
                </a:spcAft>
              </a:pPr>
              <a:r>
                <a:rPr lang="da-DK" sz="3200" b="1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Population</a:t>
              </a:r>
            </a:p>
            <a:p>
              <a:pPr algn="ctr" defTabSz="704088">
                <a:spcAft>
                  <a:spcPts val="600"/>
                </a:spcAft>
              </a:pPr>
              <a:r>
                <a:rPr lang="da-DK" sz="3200" b="1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da-DK" sz="3200" b="1" kern="1200" dirty="0" err="1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unknown</a:t>
              </a:r>
              <a:r>
                <a:rPr lang="da-DK" sz="3200" b="1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)</a:t>
              </a:r>
              <a:endParaRPr lang="en-US" sz="4000" b="1" dirty="0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43FFE4A6-7288-3670-E62E-C888C535ED38}"/>
                </a:ext>
              </a:extLst>
            </p:cNvPr>
            <p:cNvSpPr/>
            <p:nvPr/>
          </p:nvSpPr>
          <p:spPr>
            <a:xfrm>
              <a:off x="9086850" y="4577159"/>
              <a:ext cx="2900362" cy="1385491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04088">
                <a:spcAft>
                  <a:spcPts val="600"/>
                </a:spcAft>
              </a:pPr>
              <a:r>
                <a:rPr lang="da-DK" sz="1600" b="1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Sample </a:t>
              </a:r>
            </a:p>
            <a:p>
              <a:pPr algn="ctr" defTabSz="704088">
                <a:spcAft>
                  <a:spcPts val="600"/>
                </a:spcAft>
              </a:pPr>
              <a:r>
                <a:rPr lang="da-DK" sz="1600" b="1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da-DK" sz="1600" b="1" kern="1200" dirty="0" err="1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what</a:t>
              </a:r>
              <a:r>
                <a:rPr lang="da-DK" sz="1600" b="1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a-DK" sz="1600" b="1" kern="1200" dirty="0" err="1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we</a:t>
              </a:r>
              <a:r>
                <a:rPr lang="da-DK" sz="1600" b="1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 measure)</a:t>
              </a:r>
              <a:endParaRPr lang="en-US" sz="2400" b="1" dirty="0"/>
            </a:p>
          </p:txBody>
        </p:sp>
        <p:sp>
          <p:nvSpPr>
            <p:cNvPr id="13" name="Pil: bøjet til venstre 12">
              <a:extLst>
                <a:ext uri="{FF2B5EF4-FFF2-40B4-BE49-F238E27FC236}">
                  <a16:creationId xmlns:a16="http://schemas.microsoft.com/office/drawing/2014/main" id="{0B54CF6E-A97B-6F38-9930-5DE8AD6F0762}"/>
                </a:ext>
              </a:extLst>
            </p:cNvPr>
            <p:cNvSpPr/>
            <p:nvPr/>
          </p:nvSpPr>
          <p:spPr>
            <a:xfrm rot="20286093">
              <a:off x="10953751" y="2960249"/>
              <a:ext cx="571500" cy="1566863"/>
            </a:xfrm>
            <a:prstGeom prst="curvedLef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Tekstfelt 13">
              <a:extLst>
                <a:ext uri="{FF2B5EF4-FFF2-40B4-BE49-F238E27FC236}">
                  <a16:creationId xmlns:a16="http://schemas.microsoft.com/office/drawing/2014/main" id="{93FD1FBD-7EF1-DAC0-BB97-B26A1511E45B}"/>
                </a:ext>
              </a:extLst>
            </p:cNvPr>
            <p:cNvSpPr txBox="1"/>
            <p:nvPr/>
          </p:nvSpPr>
          <p:spPr>
            <a:xfrm rot="3240101">
              <a:off x="11118551" y="3023655"/>
              <a:ext cx="1149426" cy="352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04088">
                <a:spcAft>
                  <a:spcPts val="600"/>
                </a:spcAft>
              </a:pPr>
              <a:r>
                <a:rPr lang="da-DK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Sampling</a:t>
              </a:r>
              <a:endParaRPr lang="en-US" sz="2400" dirty="0"/>
            </a:p>
          </p:txBody>
        </p:sp>
        <p:sp>
          <p:nvSpPr>
            <p:cNvPr id="15" name="Pil: bøjet til venstre 14">
              <a:extLst>
                <a:ext uri="{FF2B5EF4-FFF2-40B4-BE49-F238E27FC236}">
                  <a16:creationId xmlns:a16="http://schemas.microsoft.com/office/drawing/2014/main" id="{A393D93B-889D-93F7-A806-EE26647FDC6C}"/>
                </a:ext>
              </a:extLst>
            </p:cNvPr>
            <p:cNvSpPr/>
            <p:nvPr/>
          </p:nvSpPr>
          <p:spPr>
            <a:xfrm rot="8004808">
              <a:off x="7845233" y="4271168"/>
              <a:ext cx="571500" cy="1566863"/>
            </a:xfrm>
            <a:prstGeom prst="curvedLef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Tekstfelt 15">
              <a:extLst>
                <a:ext uri="{FF2B5EF4-FFF2-40B4-BE49-F238E27FC236}">
                  <a16:creationId xmlns:a16="http://schemas.microsoft.com/office/drawing/2014/main" id="{22D84A2C-A914-FD5A-48AE-9E5535DE4DC5}"/>
                </a:ext>
              </a:extLst>
            </p:cNvPr>
            <p:cNvSpPr txBox="1"/>
            <p:nvPr/>
          </p:nvSpPr>
          <p:spPr>
            <a:xfrm rot="2528458">
              <a:off x="7826370" y="4699469"/>
              <a:ext cx="1064219" cy="383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04088">
                <a:spcAft>
                  <a:spcPts val="600"/>
                </a:spcAft>
              </a:pPr>
              <a:r>
                <a:rPr lang="da-DK" sz="1600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Inference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913117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35B36A-917E-7FB1-040F-8F6502E79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Normal </a:t>
            </a:r>
            <a:r>
              <a:rPr lang="en-US" sz="3600" dirty="0"/>
              <a:t>D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istribution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E5D7CAEB-177F-B214-DAE1-6D64237072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61" b="10355"/>
          <a:stretch>
            <a:fillRect/>
          </a:stretch>
        </p:blipFill>
        <p:spPr>
          <a:xfrm>
            <a:off x="1744860" y="2083506"/>
            <a:ext cx="8702279" cy="442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474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8" name="Freeform: Shape 2057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88FA05-B75D-B1AE-C44E-03C83138B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477" y="251750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The Null Hypothesis and P-value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8E5E813-D922-F4E6-ACF4-345EC27BB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 dirty="0"/>
              <a:t>H₀: the boring default — nothing is happening (no difference, no effect)</a:t>
            </a:r>
          </a:p>
          <a:p>
            <a:r>
              <a:rPr lang="en-US" sz="2000" dirty="0"/>
              <a:t>We ask: how surprising is our data if H₀ were true?</a:t>
            </a:r>
          </a:p>
          <a:p>
            <a:r>
              <a:rPr lang="en-US" sz="2000" dirty="0"/>
              <a:t>The p-value is the probability of observing data at least this extreme, assuming H₀ is true</a:t>
            </a:r>
          </a:p>
          <a:p>
            <a:r>
              <a:rPr lang="en-US" sz="2000" dirty="0"/>
              <a:t>We use α = 0.05 as our threshold — a 5% chance of a false positive</a:t>
            </a:r>
          </a:p>
          <a:p>
            <a:r>
              <a:rPr lang="en-US" sz="2000" dirty="0"/>
              <a:t>p-value is NOT the probability that H₀ is true, and NOT the probability your result is due to chance</a:t>
            </a:r>
          </a:p>
        </p:txBody>
      </p:sp>
      <p:pic>
        <p:nvPicPr>
          <p:cNvPr id="2051" name="Picture 3" descr="Critical Values | CK-12 Foundation">
            <a:extLst>
              <a:ext uri="{FF2B5EF4-FFF2-40B4-BE49-F238E27FC236}">
                <a16:creationId xmlns:a16="http://schemas.microsoft.com/office/drawing/2014/main" id="{65CE6D72-E0B6-1158-D4A9-5ECDCA78E9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1"/>
          <a:stretch>
            <a:fillRect/>
          </a:stretch>
        </p:blipFill>
        <p:spPr bwMode="auto">
          <a:xfrm>
            <a:off x="6899078" y="2184914"/>
            <a:ext cx="4429083" cy="375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0" name="Freeform: Shape 2059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75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0F4F09-68C7-2B2E-6069-8465339C5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The test statistic: one formula to rule them all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53A445D-83B6-9D2A-A290-D23E381EA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420" y="2291640"/>
            <a:ext cx="5582333" cy="3917773"/>
          </a:xfrm>
        </p:spPr>
        <p:txBody>
          <a:bodyPr>
            <a:normAutofit/>
          </a:bodyPr>
          <a:lstStyle/>
          <a:p>
            <a:r>
              <a:rPr lang="en-US" sz="2000" dirty="0"/>
              <a:t>All hypothesis tests share the same logic: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i="1" dirty="0"/>
          </a:p>
          <a:p>
            <a:pPr marL="0" indent="0">
              <a:buNone/>
            </a:pPr>
            <a:endParaRPr lang="en-US" sz="2000" i="1" dirty="0"/>
          </a:p>
          <a:p>
            <a:r>
              <a:rPr lang="en-US" sz="2000" dirty="0"/>
              <a:t>Large test statistic → observed difference is large relative to noise → small p-value</a:t>
            </a:r>
          </a:p>
          <a:p>
            <a:r>
              <a:rPr lang="en-US" sz="2000" dirty="0"/>
              <a:t>Different tests (t, F, χ²) are just different versions of this same idea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D899932A-3CB1-6305-8C2E-481B421BD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578" y="2291640"/>
            <a:ext cx="5411872" cy="294947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34D46A77-7BE9-6A67-EBAE-C8E6DE1AD7BF}"/>
                  </a:ext>
                </a:extLst>
              </p:cNvPr>
              <p:cNvSpPr txBox="1"/>
              <p:nvPr/>
            </p:nvSpPr>
            <p:spPr>
              <a:xfrm>
                <a:off x="0" y="2908742"/>
                <a:ext cx="6625578" cy="720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𝑡𝑒𝑠𝑡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𝑠𝑡𝑎𝑡𝑖𝑠𝑡𝑖𝑐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da-DK" sz="20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𝑜𝑏𝑠𝑒𝑟𝑣𝑎𝑡𝑖𝑜𝑛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𝑒𝑥𝑝𝑒𝑐𝑡𝑎𝑡𝑖𝑜𝑛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𝑖𝑓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000" i="1"/>
                            <m:t>variability</m:t>
                          </m:r>
                          <m:r>
                            <m:rPr>
                              <m:nor/>
                            </m:rPr>
                            <a:rPr lang="en-US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US" sz="2000" i="1"/>
                            <m:t>expected</m:t>
                          </m:r>
                          <m:r>
                            <m:rPr>
                              <m:nor/>
                            </m:rPr>
                            <a:rPr lang="en-US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US" sz="2000" i="1"/>
                            <m:t>by</m:t>
                          </m:r>
                          <m:r>
                            <m:rPr>
                              <m:nor/>
                            </m:rPr>
                            <a:rPr lang="en-US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US" sz="2000" i="1"/>
                            <m:t>chance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34D46A77-7BE9-6A67-EBAE-C8E6DE1AD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908742"/>
                <a:ext cx="6625578" cy="720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383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86DA75-067D-AC60-85FF-DC6DAE448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The t-test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B299CF5-C47E-B60D-14BC-0E9B42BBA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076" y="2176738"/>
            <a:ext cx="4958966" cy="3917773"/>
          </a:xfrm>
        </p:spPr>
        <p:txBody>
          <a:bodyPr>
            <a:normAutofit/>
          </a:bodyPr>
          <a:lstStyle/>
          <a:p>
            <a:r>
              <a:rPr lang="en-US" sz="1900" dirty="0"/>
              <a:t>Used for comparing means</a:t>
            </a:r>
          </a:p>
          <a:p>
            <a:r>
              <a:rPr lang="en-US" sz="1900" dirty="0"/>
              <a:t>One-sample: is our sample mean different from a target? (e.g. do tablets contain 200mg?)</a:t>
            </a:r>
          </a:p>
          <a:p>
            <a:r>
              <a:rPr lang="en-US" sz="1900" dirty="0"/>
              <a:t>Two-sample: are the means of two independent groups different? (e.g. drug vs. placebo)</a:t>
            </a:r>
          </a:p>
          <a:p>
            <a:r>
              <a:rPr lang="en-US" sz="1900" dirty="0"/>
              <a:t>Paired: same subjects measured twice — removes between-subject noise (e.g. blood pressure before and after treatment)</a:t>
            </a:r>
          </a:p>
          <a:p>
            <a:r>
              <a:rPr lang="en-US" sz="1900" dirty="0"/>
              <a:t>Key output: t-statistic, degrees of freedom, p-value, 95% confidence interval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AC8FECCE-1FB5-AC53-0666-16955F524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86000"/>
            <a:ext cx="5803944" cy="3163149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86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E0BDF3F-4391-88D5-43C5-36A59D0B3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da-DK" dirty="0"/>
              <a:t>ANOVA</a:t>
            </a:r>
            <a:endParaRPr lang="en-US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1323E38-DB26-20CB-B3E3-D2068B859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68" y="2291640"/>
            <a:ext cx="4958966" cy="3917773"/>
          </a:xfrm>
        </p:spPr>
        <p:txBody>
          <a:bodyPr>
            <a:normAutofit/>
          </a:bodyPr>
          <a:lstStyle/>
          <a:p>
            <a:r>
              <a:rPr lang="en-US" sz="1700" dirty="0"/>
              <a:t>Used when comparing means across more than 2 groups</a:t>
            </a:r>
          </a:p>
          <a:p>
            <a:r>
              <a:rPr lang="en-US" sz="1700" dirty="0"/>
              <a:t>One-way ANOVA: one grouping variable (e.g. four formulations)</a:t>
            </a:r>
          </a:p>
          <a:p>
            <a:r>
              <a:rPr lang="en-US" sz="1700" dirty="0"/>
              <a:t>Two-way ANOVA: two grouping variables, and their interaction (e.g. formulation × dissolution medium)</a:t>
            </a:r>
          </a:p>
          <a:p>
            <a:pPr lvl="1"/>
            <a:r>
              <a:rPr lang="en-US" sz="1300" dirty="0"/>
              <a:t>The interaction term is often the most interesting — does the effect of one variable depend on the other?</a:t>
            </a:r>
          </a:p>
          <a:p>
            <a:r>
              <a:rPr lang="en-US" sz="1700" dirty="0"/>
              <a:t>ANOVA tells you something differs — post-hoc tests (Tukey's HSD) tell you which groups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911BEF60-E8F9-4A9D-5B06-E424286DF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565" y="3185545"/>
            <a:ext cx="6402491" cy="3348162"/>
          </a:xfrm>
          <a:prstGeom prst="rect">
            <a:avLst/>
          </a:prstGeom>
        </p:spPr>
      </p:pic>
      <p:pic>
        <p:nvPicPr>
          <p:cNvPr id="1028" name="Picture 4" descr="one-way anova basics">
            <a:extLst>
              <a:ext uri="{FF2B5EF4-FFF2-40B4-BE49-F238E27FC236}">
                <a16:creationId xmlns:a16="http://schemas.microsoft.com/office/drawing/2014/main" id="{AAF1FCF2-26DD-5783-C201-54CC8AB08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644911"/>
            <a:ext cx="5343525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872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2725</TotalTime>
  <Words>453</Words>
  <Application>Microsoft Office PowerPoint</Application>
  <PresentationFormat>Widescreen</PresentationFormat>
  <Paragraphs>47</Paragraphs>
  <Slides>7</Slides>
  <Notes>2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Office-tema</vt:lpstr>
      <vt:lpstr>Code Club 4</vt:lpstr>
      <vt:lpstr>Why Do We Need Hypothesis Testing?</vt:lpstr>
      <vt:lpstr>The Normal Distribution</vt:lpstr>
      <vt:lpstr>The Null Hypothesis and P-value</vt:lpstr>
      <vt:lpstr>The test statistic: one formula to rule them all</vt:lpstr>
      <vt:lpstr>The t-test</vt:lpstr>
      <vt:lpstr>ANOVA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Jakobsen</dc:creator>
  <cp:lastModifiedBy>Sebastian Jakobsen</cp:lastModifiedBy>
  <cp:revision>1</cp:revision>
  <dcterms:created xsi:type="dcterms:W3CDTF">2026-05-15T11:48:02Z</dcterms:created>
  <dcterms:modified xsi:type="dcterms:W3CDTF">2026-05-20T05:35:23Z</dcterms:modified>
</cp:coreProperties>
</file>